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db1ba16-2002-27e5-b57b-6d32baa024b6}">
          <p14:sldIdLst>
            <p14:sldId id="256"/>
            <p14:sldId id="257"/>
            <p14:sldId id="258"/>
            <p14:sldId id="259"/>
          </p14:sldIdLst>
        </p14:section>
        <p14:section name="The data" id="{95fb0823-2e71-19d8-f6e9-96b5391f39f6}">
          <p14:sldIdLst>
            <p14:sldId id="260"/>
            <p14:sldId id="261"/>
          </p14:sldIdLst>
        </p14:section>
        <p14:section name="Scoring" id="{ff42cb45-2a4f-550a-4f1f-8a563730c05a}">
          <p14:sldIdLst>
            <p14:sldId id="262"/>
            <p14:sldId id="263"/>
          </p14:sldIdLst>
        </p14:section>
        <p14:section name="Modeling" id="{b0e12cd7-c54f-97f1-c5d0-d09c26c40782}">
          <p14:sldIdLst>
            <p14:sldId id="264"/>
            <p14:sldId id="265"/>
            <p14:sldId id="266"/>
            <p14:sldId id="267"/>
          </p14:sldIdLst>
        </p14:section>
        <p14:section name="Submitting" id="{b40d2fac-defb-2728-4b8c-bcb3426abf47}">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B28"/>
                </a:solidFill>
                <a:latin typeface="+mn-lt"/>
              </a:defRPr>
            </a:pPr>
            <a:r>
              <a:rPr sz="1400" b="0" i="0" u="none" strike="noStrike">
                <a:solidFill>
                  <a:srgbClr val="1A2B28"/>
                </a:solidFill>
                <a:latin typeface="+mn-lt"/>
              </a:rPr>
              <a:t>Share of loans with loan_status = 1, by grade (%)</a:t>
            </a:r>
          </a:p>
        </c:rich>
      </c:tx>
      <c:layout/>
      <c:overlay val="0"/>
    </c:title>
    <c:autoTitleDeleted val="0"/>
    <c:plotArea>
      <c:layout/>
      <c:barChart>
        <c:barDir val="col"/>
        <c:grouping val="clustered"/>
        <c:varyColors val="0"/>
        <c:ser>
          <c:idx val="0"/>
          <c:order val="0"/>
          <c:tx>
            <c:strRef>
              <c:f>Sheet1!$B$1</c:f>
              <c:strCache>
                <c:ptCount val="1"/>
                <c:pt idx="0">
                  <c:v>Rate of 1s</c:v>
                </c:pt>
              </c:strCache>
            </c:strRef>
          </c:tx>
          <c:spPr>
            <a:solidFill>
              <a:srgbClr val="0F6E5F"/>
            </a:solidFill>
            <a:effectLst/>
          </c:spPr>
          <c:invertIfNegative val="0"/>
          <c:dLbls>
            <c:numFmt formatCode="0&quot;%&quot;" sourceLinked="0"/>
            <c:txPr>
              <a:bodyPr/>
              <a:lstStyle/>
              <a:p>
                <a:pPr>
                  <a:defRPr b="0" i="0" strike="noStrike" sz="1200" u="none">
                    <a:solidFill>
                      <a:srgbClr val="1A2B28"/>
                    </a:solidFill>
                    <a:latin typeface="+mn-lt"/>
                  </a:defRPr>
                </a:pPr>
              </a:p>
            </c:txPr>
            <c:showLegendKey val="0"/>
            <c:showVal val="1"/>
            <c:showCatName val="0"/>
            <c:showSerName val="0"/>
            <c:showPercent val="0"/>
            <c:showBubbleSize val="0"/>
            <c:showLeaderLines val="0"/>
          </c:dLbls>
          <c:dPt>
            <c:idx val="0"/>
            <c:invertIfNegative val="0"/>
            <c:bubble3D val="0"/>
            <c:spPr>
              <a:solidFill>
                <a:srgbClr val="0F6E5F"/>
              </a:solidFill>
              <a:effectLst/>
            </c:spPr>
          </c:dPt>
          <c:dPt>
            <c:idx val="1"/>
            <c:invertIfNegative val="0"/>
            <c:bubble3D val="0"/>
            <c:spPr>
              <a:solidFill>
                <a:srgbClr val="0F6E5F"/>
              </a:solidFill>
              <a:effectLst/>
            </c:spPr>
          </c:dPt>
          <c:dPt>
            <c:idx val="2"/>
            <c:invertIfNegative val="0"/>
            <c:bubble3D val="0"/>
            <c:spPr>
              <a:solidFill>
                <a:srgbClr val="0F6E5F"/>
              </a:solidFill>
              <a:effectLst/>
            </c:spPr>
          </c:dPt>
          <c:dPt>
            <c:idx val="3"/>
            <c:invertIfNegative val="0"/>
            <c:bubble3D val="0"/>
            <c:spPr>
              <a:solidFill>
                <a:srgbClr val="E8962E"/>
              </a:solidFill>
              <a:effectLst/>
            </c:spPr>
          </c:dPt>
          <c:dPt>
            <c:idx val="4"/>
            <c:invertIfNegative val="0"/>
            <c:bubble3D val="0"/>
            <c:spPr>
              <a:solidFill>
                <a:srgbClr val="E8962E"/>
              </a:solidFill>
              <a:effectLst/>
            </c:spPr>
          </c:dPt>
          <c:dPt>
            <c:idx val="5"/>
            <c:invertIfNegative val="0"/>
            <c:bubble3D val="0"/>
            <c:spPr>
              <a:solidFill>
                <a:srgbClr val="E8962E"/>
              </a:solidFill>
              <a:effectLst/>
            </c:spPr>
          </c:dPt>
          <c:dPt>
            <c:idx val="6"/>
            <c:invertIfNegative val="0"/>
            <c:bubble3D val="0"/>
            <c:spPr>
              <a:solidFill>
                <a:srgbClr val="E8962E"/>
              </a:solidFill>
              <a:effectLst/>
            </c:spPr>
          </c:dPt>
          <c:cat>
            <c:multiLvlStrRef>
              <c:f>Sheet1!$A$2:$A$8</c:f>
              <c:multiLvlStrCache>
                <c:ptCount val="7"/>
                <c:lvl>
                  <c:pt idx="0">
                    <c:v>Grade A</c:v>
                  </c:pt>
                  <c:pt idx="1">
                    <c:v>Grade B</c:v>
                  </c:pt>
                  <c:pt idx="2">
                    <c:v>Grade C</c:v>
                  </c:pt>
                  <c:pt idx="3">
                    <c:v>Grade D</c:v>
                  </c:pt>
                  <c:pt idx="4">
                    <c:v>Grade E</c:v>
                  </c:pt>
                  <c:pt idx="5">
                    <c:v>Grade F</c:v>
                  </c:pt>
                  <c:pt idx="6">
                    <c:v>Grade G</c:v>
                  </c:pt>
                </c:lvl>
              </c:multiLvlStrCache>
            </c:multiLvlStrRef>
          </c:cat>
          <c:val>
            <c:numRef>
              <c:f>Sheet1!$B$2:$B$8</c:f>
              <c:numCache>
                <c:formatCode>General</c:formatCode>
                <c:ptCount val="7"/>
                <c:pt idx="0">
                  <c:v>4.9</c:v>
                </c:pt>
                <c:pt idx="1">
                  <c:v>10.2</c:v>
                </c:pt>
                <c:pt idx="2">
                  <c:v>13.5</c:v>
                </c:pt>
                <c:pt idx="3">
                  <c:v>59.4</c:v>
                </c:pt>
                <c:pt idx="4">
                  <c:v>62.5</c:v>
                </c:pt>
                <c:pt idx="5">
                  <c:v>61.1</c:v>
                </c:pt>
                <c:pt idx="6">
                  <c:v>81.8</c:v>
                </c:pt>
              </c:numCache>
            </c:numRef>
          </c:val>
        </c:ser>
        <c:dLbls>
          <c:numFmt formatCode="0&quot;%&quot;" sourceLinked="0"/>
          <c:txPr>
            <a:bodyPr/>
            <a:lstStyle/>
            <a:p>
              <a:pPr>
                <a:defRPr b="0" i="0" strike="noStrike" sz="1200" u="none">
                  <a:solidFill>
                    <a:srgbClr val="1A2B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73"/>
                </a:solidFill>
                <a:latin typeface="+mn-lt"/>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B28"/>
                </a:solidFill>
                <a:latin typeface="+mn-lt"/>
              </a:defRPr>
            </a:pPr>
            <a:r>
              <a:rPr sz="1400" b="0" i="0" u="none" strike="noStrike">
                <a:solidFill>
                  <a:srgbClr val="1A2B28"/>
                </a:solidFill>
                <a:latin typeface="+mn-lt"/>
              </a:rPr>
              <a:t>Accuracy on train.csv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9CC5B9"/>
            </a:solidFill>
            <a:effectLst/>
          </c:spPr>
          <c:invertIfNegative val="0"/>
          <c:dLbls>
            <c:numFmt formatCode="0.0" sourceLinked="0"/>
            <c:txPr>
              <a:bodyPr/>
              <a:lstStyle/>
              <a:p>
                <a:pPr>
                  <a:defRPr b="0" i="0" strike="noStrike" sz="1400" u="none">
                    <a:solidFill>
                      <a:srgbClr val="1A2B28"/>
                    </a:solidFill>
                    <a:latin typeface="+mn-lt"/>
                  </a:defRPr>
                </a:pPr>
              </a:p>
            </c:txPr>
            <c:showLegendKey val="0"/>
            <c:showVal val="1"/>
            <c:showCatName val="0"/>
            <c:showSerName val="0"/>
            <c:showPercent val="0"/>
            <c:showBubbleSize val="0"/>
            <c:showLeaderLines val="0"/>
          </c:dLbls>
          <c:dPt>
            <c:idx val="0"/>
            <c:invertIfNegative val="0"/>
            <c:bubble3D val="0"/>
            <c:spPr>
              <a:solidFill>
                <a:srgbClr val="9CC5B9"/>
              </a:solidFill>
              <a:effectLst/>
            </c:spPr>
          </c:dPt>
          <c:dPt>
            <c:idx val="1"/>
            <c:invertIfNegative val="0"/>
            <c:bubble3D val="0"/>
            <c:spPr>
              <a:solidFill>
                <a:srgbClr val="0F6E5F"/>
              </a:solidFill>
              <a:effectLst/>
            </c:spPr>
          </c:dPt>
          <c:dPt>
            <c:idx val="2"/>
            <c:invertIfNegative val="0"/>
            <c:bubble3D val="0"/>
            <c:spPr>
              <a:solidFill>
                <a:srgbClr val="0F6E5F"/>
              </a:solidFill>
              <a:effectLst/>
            </c:spPr>
          </c:dPt>
          <c:cat>
            <c:multiLvlStrRef>
              <c:f>Sheet1!$A$2:$A$4</c:f>
              <c:multiLvlStrCache>
                <c:ptCount val="3"/>
                <c:lvl>
                  <c:pt idx="0">
                    <c:v>Always predict 0</c:v>
                  </c:pt>
                  <c:pt idx="1">
                    <c:v>Grade D–G → 1</c:v>
                  </c:pt>
                  <c:pt idx="2">
                    <c:v>Grade D–G  or  loan &gt; 30% of income → 1</c:v>
                  </c:pt>
                </c:lvl>
              </c:multiLvlStrCache>
            </c:multiLvlStrRef>
          </c:cat>
          <c:val>
            <c:numRef>
              <c:f>Sheet1!$B$2:$B$4</c:f>
              <c:numCache>
                <c:formatCode>General</c:formatCode>
                <c:ptCount val="3"/>
                <c:pt idx="0">
                  <c:v>85.8</c:v>
                </c:pt>
                <c:pt idx="1">
                  <c:v>87.9</c:v>
                </c:pt>
                <c:pt idx="2">
                  <c:v>89.9</c:v>
                </c:pt>
              </c:numCache>
            </c:numRef>
          </c:val>
        </c:ser>
        <c:dLbls>
          <c:numFmt formatCode="0.0" sourceLinked="0"/>
          <c:txPr>
            <a:bodyPr/>
            <a:lstStyle/>
            <a:p>
              <a:pPr>
                <a:defRPr b="0" i="0" strike="noStrike" sz="1400" u="none">
                  <a:solidFill>
                    <a:srgbClr val="1A2B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2B28"/>
                </a:solidFill>
                <a:latin typeface="+mn-lt"/>
              </a:defRPr>
            </a:pPr>
            <a:endParaRPr lang="en-US"/>
          </a:p>
        </c:txPr>
        <c:crossAx val="2094734552"/>
        <c:crosses val="autoZero"/>
        <c:auto val="1"/>
        <c:lblAlgn val="ctr"/>
        <c:noMultiLvlLbl val="1"/>
      </c:catAx>
      <c:valAx>
        <c:axId val="2094734552"/>
        <c:scaling>
          <c:orientation val="minMax"/>
          <c:max val="92"/>
          <c:min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B28"/>
                </a:solidFill>
                <a:latin typeface="+mn-lt"/>
              </a:defRPr>
            </a:pPr>
            <a:r>
              <a:rPr sz="1400" b="0" i="0" u="none" strike="noStrike">
                <a:solidFill>
                  <a:srgbClr val="1A2B28"/>
                </a:solidFill>
                <a:latin typeface="+mn-lt"/>
              </a:rPr>
              <a:t>Decision tree accuracy (%) by max_depth</a:t>
            </a:r>
          </a:p>
        </c:rich>
      </c:tx>
      <c:layout/>
      <c:overlay val="0"/>
    </c:title>
    <c:autoTitleDeleted val="0"/>
    <c:plotArea>
      <c:layout/>
      <c:lineChart>
        <c:varyColors val="0"/>
        <c:ser>
          <c:idx val="0"/>
          <c:order val="0"/>
          <c:tx>
            <c:strRef>
              <c:f>Sheet1!$B$1</c:f>
              <c:strCache>
                <c:ptCount val="1"/>
                <c:pt idx="0">
                  <c:v>Training accuracy</c:v>
                </c:pt>
              </c:strCache>
            </c:strRef>
          </c:tx>
          <c:spPr>
            <a:solidFill>
              <a:srgbClr val="9CC5B9"/>
            </a:solidFill>
            <a:ln w="38100" cap="flat">
              <a:solidFill>
                <a:srgbClr val="9CC5B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9CC5B9"/>
              </a:solidFill>
              <a:ln w="9525" cap="flat">
                <a:solidFill>
                  <a:srgbClr val="9CC5B9"/>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88.9</c:v>
                </c:pt>
                <c:pt idx="1">
                  <c:v>89.9</c:v>
                </c:pt>
                <c:pt idx="2">
                  <c:v>90.9</c:v>
                </c:pt>
                <c:pt idx="3">
                  <c:v>91.2</c:v>
                </c:pt>
                <c:pt idx="4">
                  <c:v>91.4</c:v>
                </c:pt>
                <c:pt idx="5">
                  <c:v>91.7</c:v>
                </c:pt>
                <c:pt idx="6">
                  <c:v>91.9</c:v>
                </c:pt>
                <c:pt idx="7">
                  <c:v>92.3</c:v>
                </c:pt>
                <c:pt idx="8">
                  <c:v>92.7</c:v>
                </c:pt>
                <c:pt idx="9">
                  <c:v>93.2</c:v>
                </c:pt>
                <c:pt idx="10">
                  <c:v>93.8</c:v>
                </c:pt>
                <c:pt idx="11">
                  <c:v>94.4</c:v>
                </c:pt>
                <c:pt idx="12">
                  <c:v>95.1</c:v>
                </c:pt>
                <c:pt idx="13">
                  <c:v>95.7</c:v>
                </c:pt>
                <c:pt idx="14">
                  <c:v>96.3</c:v>
                </c:pt>
              </c:numCache>
            </c:numRef>
          </c:val>
          <c:smooth val="0"/>
        </c:ser>
        <c:ser>
          <c:idx val="1"/>
          <c:order val="1"/>
          <c:tx>
            <c:strRef>
              <c:f>Sheet1!$C$1</c:f>
              <c:strCache>
                <c:ptCount val="1"/>
                <c:pt idx="0">
                  <c:v>Validation accuracy</c:v>
                </c:pt>
              </c:strCache>
            </c:strRef>
          </c:tx>
          <c:spPr>
            <a:solidFill>
              <a:srgbClr val="0F6E5F"/>
            </a:solidFill>
            <a:ln w="38100" cap="flat">
              <a:solidFill>
                <a:srgbClr val="0F6E5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0F6E5F"/>
              </a:solidFill>
              <a:ln w="9525" cap="flat">
                <a:solidFill>
                  <a:srgbClr val="0F6E5F"/>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Sheet1!$C$2:$C$16</c:f>
              <c:numCache>
                <c:formatCode>General</c:formatCode>
                <c:ptCount val="15"/>
                <c:pt idx="0">
                  <c:v>89</c:v>
                </c:pt>
                <c:pt idx="1">
                  <c:v>90.1</c:v>
                </c:pt>
                <c:pt idx="2">
                  <c:v>91.2</c:v>
                </c:pt>
                <c:pt idx="3">
                  <c:v>91.3</c:v>
                </c:pt>
                <c:pt idx="4">
                  <c:v>91.3</c:v>
                </c:pt>
                <c:pt idx="5">
                  <c:v>91.6</c:v>
                </c:pt>
                <c:pt idx="6">
                  <c:v>91.5</c:v>
                </c:pt>
                <c:pt idx="7">
                  <c:v>91.6</c:v>
                </c:pt>
                <c:pt idx="8">
                  <c:v>91.4</c:v>
                </c:pt>
                <c:pt idx="9">
                  <c:v>91.2</c:v>
                </c:pt>
                <c:pt idx="10">
                  <c:v>90.9</c:v>
                </c:pt>
                <c:pt idx="11">
                  <c:v>91</c:v>
                </c:pt>
                <c:pt idx="12">
                  <c:v>90.7</c:v>
                </c:pt>
                <c:pt idx="13">
                  <c:v>90.5</c:v>
                </c:pt>
                <c:pt idx="14">
                  <c:v>90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7A73"/>
                    </a:solidFill>
                    <a:latin typeface="Arial"/>
                  </a:defRPr>
                </a:pPr>
                <a:r>
                  <a:rPr sz="1200" b="0" i="0" u="none" strike="noStrike">
                    <a:solidFill>
                      <a:srgbClr val="5B7A73"/>
                    </a:solidFill>
                    <a:latin typeface="Arial"/>
                  </a:rPr>
                  <a:t>max_depth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73"/>
                </a:solidFill>
                <a:latin typeface="+mn-lt"/>
              </a:defRPr>
            </a:pPr>
            <a:endParaRPr lang="en-US"/>
          </a:p>
        </c:txPr>
        <c:crossAx val="2094734552"/>
        <c:crosses val="autoZero"/>
        <c:auto val="1"/>
        <c:lblAlgn val="ctr"/>
        <c:noMultiLvlLbl val="1"/>
      </c:catAx>
      <c:valAx>
        <c:axId val="2094734552"/>
        <c:scaling>
          <c:orientation val="minMax"/>
          <c:max val="97"/>
          <c:min val="88"/>
        </c:scaling>
        <c:delete val="0"/>
        <c:axPos val="l"/>
        <c:majorGridlines>
          <c:spPr>
            <a:ln w="6350" cap="flat">
              <a:solidFill>
                <a:srgbClr val="D5E1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A2B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B28"/>
                </a:solidFill>
                <a:latin typeface="+mn-lt"/>
              </a:defRPr>
            </a:pPr>
            <a:r>
              <a:rPr sz="1400" b="0" i="0" u="none" strike="noStrike">
                <a:solidFill>
                  <a:srgbClr val="1A2B28"/>
                </a:solidFill>
                <a:latin typeface="+mn-lt"/>
              </a:rPr>
              <a:t>Validation accuracy (%)</a:t>
            </a:r>
          </a:p>
        </c:rich>
      </c:tx>
      <c:layout/>
      <c:overlay val="0"/>
    </c:title>
    <c:autoTitleDeleted val="0"/>
    <c:plotArea>
      <c:layout/>
      <c:barChart>
        <c:barDir val="col"/>
        <c:grouping val="clustered"/>
        <c:varyColors val="0"/>
        <c:ser>
          <c:idx val="0"/>
          <c:order val="0"/>
          <c:tx>
            <c:strRef>
              <c:f>Sheet1!$B$1</c:f>
              <c:strCache>
                <c:ptCount val="1"/>
                <c:pt idx="0">
                  <c:v>Validation accuracy</c:v>
                </c:pt>
              </c:strCache>
            </c:strRef>
          </c:tx>
          <c:spPr>
            <a:solidFill>
              <a:srgbClr val="9CC5B9"/>
            </a:solidFill>
            <a:effectLst/>
          </c:spPr>
          <c:invertIfNegative val="0"/>
          <c:dLbls>
            <c:numFmt formatCode="0.0" sourceLinked="0"/>
            <c:txPr>
              <a:bodyPr/>
              <a:lstStyle/>
              <a:p>
                <a:pPr>
                  <a:defRPr b="0" i="0" strike="noStrike" sz="1400" u="none">
                    <a:solidFill>
                      <a:srgbClr val="1A2B28"/>
                    </a:solidFill>
                    <a:latin typeface="+mn-lt"/>
                  </a:defRPr>
                </a:pPr>
              </a:p>
            </c:txPr>
            <c:showLegendKey val="0"/>
            <c:showVal val="1"/>
            <c:showCatName val="0"/>
            <c:showSerName val="0"/>
            <c:showPercent val="0"/>
            <c:showBubbleSize val="0"/>
            <c:showLeaderLines val="0"/>
          </c:dLbls>
          <c:dPt>
            <c:idx val="0"/>
            <c:invertIfNegative val="0"/>
            <c:bubble3D val="0"/>
            <c:spPr>
              <a:solidFill>
                <a:srgbClr val="9CC5B9"/>
              </a:solidFill>
              <a:effectLst/>
            </c:spPr>
          </c:dPt>
          <c:dPt>
            <c:idx val="1"/>
            <c:invertIfNegative val="0"/>
            <c:bubble3D val="0"/>
            <c:spPr>
              <a:solidFill>
                <a:srgbClr val="E8962E"/>
              </a:solidFill>
              <a:effectLst/>
            </c:spPr>
          </c:dPt>
          <c:dPt>
            <c:idx val="2"/>
            <c:invertIfNegative val="0"/>
            <c:bubble3D val="0"/>
            <c:spPr>
              <a:solidFill>
                <a:srgbClr val="0F6E5F"/>
              </a:solidFill>
              <a:effectLst/>
            </c:spPr>
          </c:dPt>
          <c:dPt>
            <c:idx val="3"/>
            <c:invertIfNegative val="0"/>
            <c:bubble3D val="0"/>
            <c:spPr>
              <a:solidFill>
                <a:srgbClr val="0F6E5F"/>
              </a:solidFill>
              <a:effectLst/>
            </c:spPr>
          </c:dPt>
          <c:cat>
            <c:multiLvlStrRef>
              <c:f>Sheet1!$A$2:$A$5</c:f>
              <c:multiLvlStrCache>
                <c:ptCount val="4"/>
                <c:lvl>
                  <c:pt idx="0">
                    <c:v>Tree, starter features</c:v>
                  </c:pt>
                  <c:pt idx="1">
                    <c:v>Tree + one-hot columns</c:v>
                  </c:pt>
                  <c:pt idx="2">
                    <c:v>Random forest</c:v>
                  </c:pt>
                  <c:pt idx="3">
                    <c:v>Gradient boosting</c:v>
                  </c:pt>
                </c:lvl>
              </c:multiLvlStrCache>
            </c:multiLvlStrRef>
          </c:cat>
          <c:val>
            <c:numRef>
              <c:f>Sheet1!$B$2:$B$5</c:f>
              <c:numCache>
                <c:formatCode>General</c:formatCode>
                <c:ptCount val="4"/>
                <c:pt idx="0">
                  <c:v>91.6</c:v>
                </c:pt>
                <c:pt idx="1">
                  <c:v>95.1</c:v>
                </c:pt>
                <c:pt idx="2">
                  <c:v>95.2</c:v>
                </c:pt>
                <c:pt idx="3">
                  <c:v>95.2</c:v>
                </c:pt>
              </c:numCache>
            </c:numRef>
          </c:val>
        </c:ser>
        <c:dLbls>
          <c:numFmt formatCode="0.0" sourceLinked="0"/>
          <c:txPr>
            <a:bodyPr/>
            <a:lstStyle/>
            <a:p>
              <a:pPr>
                <a:defRPr b="0" i="0" strike="noStrike" sz="1400" u="none">
                  <a:solidFill>
                    <a:srgbClr val="1A2B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B28"/>
                </a:solidFill>
                <a:latin typeface="+mn-lt"/>
              </a:defRPr>
            </a:pPr>
            <a:endParaRPr lang="en-US"/>
          </a:p>
        </c:txPr>
        <c:crossAx val="2094734552"/>
        <c:crosses val="autoZero"/>
        <c:auto val="1"/>
        <c:lblAlgn val="ctr"/>
        <c:noMultiLvlLbl val="1"/>
      </c:catAx>
      <c:valAx>
        <c:axId val="2094734552"/>
        <c:scaling>
          <c:orientation val="minMax"/>
          <c:max val="97"/>
          <c:min val="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the next couple of weeks you'll enter a real Kaggle competition, built just for this class. You'll use the pandas you already know, plus your first machine learning model, to predict an outcome for nearly 40,000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one sentence. Keep the 14% in mind: it's going to matter a lot when we talk about how you're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new loan officer. Nobody hands them a rulebook. They study thousands of past applications and their outcomes and start spotting patterns. That's training. The four words at the bottom are the vocabulary you'll use all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setup as Titanic. You learn from train, predict test, upload a file, and Kaggle grades it against answers you never see. Scoring is plain accuracy, just like Titanic.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loan application. Features describe the person, the loan, and their credit history. No missing values in this dataset, which is rare in real life. The competition calls the target 'approval', but as you'll see, 1s behave like risky loans. Part of your job is to decide what a 1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groupby and mean. train.groupby('loan_grade')['loan_status'].mean(). Notice the cliff between C and D. That's exactly the kind of pattern a model will learn. Ask students why renters might look riskier, and whether renting causes default or just travels with youth and lower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in the project. In Titanic, a bad model still looked bad. Here, a useless model looks great on paper. Always compare against the 'always guess the most common answer' baseline. You can compute it in one line: (train['loan_status'] == 0).mean().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machine learning yet. One line of pandas gets you from 85.8 to 87.9. Adding a second rule gets about 90. Have students submit the grade rule so they have a baseline on the leaderboard before they touch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news: there are no missing values, so the only cleanup is turning text into numbers. Writing the dictionary yourself guarantees train and test get the same codes. We leave home ownership and loan intent out for now; they come back later as the biggest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plays 20 Questions. It picks the question that best separates 1s from 0s, then repeats on each branch. These splits are the real top of a depth-4 tree on this data. model.fit is the learning; that one line studies all 58,645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a model on loans it studied is like grading yourself with the answer key. The fix is train_test_split with stratify=y. Validation is flat from about depth 4 to 10, so those are all reasonable picks. A difference of 0.001 is only about 12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renters at 22% versus owners at 1%? The starter features leave that column out. Adding it back is worth more than switching to a random forest. Other ideas are in section 12 of the guide: new features like rate times percent of income, random forests, gradient boosting. Realistic target: about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Refit on all 58,645 rows before predicting: more examples, better learning. Use predict, not predict_proba, because we're scored on 0/1 accuracy. Quick sanity check: submission['loan_status'].value_counts(). If it's all zeros, your score will be about 0.858.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cover most of the questions I expect to get. The full table is in section 13 of Loan-README.md. Read the last line of any error message first; it usually names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notebook has a cell for every one of these, and a checklist at the end. Restart and Run All before you turn it in to make sure it runs top to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the competition today, open the starter notebook, and submit the grade-rule baseline before next class. Kaggle notebooks have everything installed, and the data is also in the GitHub repo if you'd rather work on your laptop or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BAIM 3220 · Loan Approval Challenge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kaggle.com/competitions/3220-loan-approval" TargetMode="External"/><Relationship Id="rId4" Type="http://schemas.openxmlformats.org/officeDocument/2006/relationships/hyperlink" Target="https://github.com/iportilla/loan" TargetMode="External"/><Relationship Id="rId1" Type="http://schemas.openxmlformats.org/officeDocument/2006/relationships/image" Target="../media/image-16-1.png"/><Relationship Id="rId3" Type="http://schemas.openxmlformats.org/officeDocument/2006/relationships/image" Target="../media/image-16-2.png"/><Relationship Id="rId5" Type="http://schemas.openxmlformats.org/officeDocument/2006/relationships/image" Target="../media/image-16-3.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Loan Approval Challenge</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indent="0" marL="0">
              <a:buNone/>
            </a:pPr>
            <a:r>
              <a:rPr lang="en-US" sz="2200" dirty="0">
                <a:solidFill>
                  <a:schemeClr val="accent5"/>
                </a:solidFill>
              </a:rPr>
              <a:t>Your first Kaggle competition with Python · BAIM 3220</a:t>
            </a:r>
            <a:endParaRPr lang="en-US" sz="2200" dirty="0"/>
          </a:p>
        </p:txBody>
      </p:sp>
      <p:sp>
        <p:nvSpPr>
          <p:cNvPr id="4" name="grade A chip"/>
          <p:cNvSpPr/>
          <p:nvPr/>
        </p:nvSpPr>
        <p:spPr>
          <a:xfrm>
            <a:off x="731520" y="4937760"/>
            <a:ext cx="594360" cy="594360"/>
          </a:xfrm>
          <a:prstGeom prst="ellipse">
            <a:avLst/>
          </a:prstGeom>
          <a:solidFill>
            <a:schemeClr val="accent1"/>
          </a:solidFill>
          <a:ln/>
        </p:spPr>
      </p:sp>
      <p:sp>
        <p:nvSpPr>
          <p:cNvPr id="5" name="grade A label"/>
          <p:cNvSpPr txBox="1"/>
          <p:nvPr/>
        </p:nvSpPr>
        <p:spPr>
          <a:xfrm>
            <a:off x="73152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6" name="grade B chip"/>
          <p:cNvSpPr/>
          <p:nvPr/>
        </p:nvSpPr>
        <p:spPr>
          <a:xfrm>
            <a:off x="1508760" y="4937760"/>
            <a:ext cx="594360" cy="594360"/>
          </a:xfrm>
          <a:prstGeom prst="ellipse">
            <a:avLst/>
          </a:prstGeom>
          <a:solidFill>
            <a:schemeClr val="accent1"/>
          </a:solidFill>
          <a:ln/>
        </p:spPr>
      </p:sp>
      <p:sp>
        <p:nvSpPr>
          <p:cNvPr id="7" name="grade B label"/>
          <p:cNvSpPr txBox="1"/>
          <p:nvPr/>
        </p:nvSpPr>
        <p:spPr>
          <a:xfrm>
            <a:off x="150876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8" name="grade C chip"/>
          <p:cNvSpPr/>
          <p:nvPr/>
        </p:nvSpPr>
        <p:spPr>
          <a:xfrm>
            <a:off x="2286000" y="4937760"/>
            <a:ext cx="594360" cy="594360"/>
          </a:xfrm>
          <a:prstGeom prst="ellipse">
            <a:avLst/>
          </a:prstGeom>
          <a:solidFill>
            <a:schemeClr val="accent1"/>
          </a:solidFill>
          <a:ln/>
        </p:spPr>
      </p:sp>
      <p:sp>
        <p:nvSpPr>
          <p:cNvPr id="9" name="grade C label"/>
          <p:cNvSpPr txBox="1"/>
          <p:nvPr/>
        </p:nvSpPr>
        <p:spPr>
          <a:xfrm>
            <a:off x="228600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0" name="grade D chip"/>
          <p:cNvSpPr/>
          <p:nvPr/>
        </p:nvSpPr>
        <p:spPr>
          <a:xfrm>
            <a:off x="3063240" y="4937760"/>
            <a:ext cx="594360" cy="594360"/>
          </a:xfrm>
          <a:prstGeom prst="ellipse">
            <a:avLst/>
          </a:prstGeom>
          <a:solidFill>
            <a:schemeClr val="accent2"/>
          </a:solidFill>
          <a:ln/>
        </p:spPr>
      </p:sp>
      <p:sp>
        <p:nvSpPr>
          <p:cNvPr id="11" name="grade D label"/>
          <p:cNvSpPr txBox="1"/>
          <p:nvPr/>
        </p:nvSpPr>
        <p:spPr>
          <a:xfrm>
            <a:off x="306324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2" name="grade E chip"/>
          <p:cNvSpPr/>
          <p:nvPr/>
        </p:nvSpPr>
        <p:spPr>
          <a:xfrm>
            <a:off x="3840480" y="4937760"/>
            <a:ext cx="594360" cy="594360"/>
          </a:xfrm>
          <a:prstGeom prst="ellipse">
            <a:avLst/>
          </a:prstGeom>
          <a:solidFill>
            <a:schemeClr val="accent2"/>
          </a:solidFill>
          <a:ln/>
        </p:spPr>
      </p:sp>
      <p:sp>
        <p:nvSpPr>
          <p:cNvPr id="13" name="grade E label"/>
          <p:cNvSpPr txBox="1"/>
          <p:nvPr/>
        </p:nvSpPr>
        <p:spPr>
          <a:xfrm>
            <a:off x="384048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E</a:t>
            </a:r>
            <a:endParaRPr lang="en-US" sz="2000" dirty="0"/>
          </a:p>
        </p:txBody>
      </p:sp>
      <p:sp>
        <p:nvSpPr>
          <p:cNvPr id="14" name="grade F chip"/>
          <p:cNvSpPr/>
          <p:nvPr/>
        </p:nvSpPr>
        <p:spPr>
          <a:xfrm>
            <a:off x="4617720" y="4937760"/>
            <a:ext cx="594360" cy="594360"/>
          </a:xfrm>
          <a:prstGeom prst="ellipse">
            <a:avLst/>
          </a:prstGeom>
          <a:solidFill>
            <a:schemeClr val="accent2"/>
          </a:solidFill>
          <a:ln/>
        </p:spPr>
      </p:sp>
      <p:sp>
        <p:nvSpPr>
          <p:cNvPr id="15" name="grade F label"/>
          <p:cNvSpPr txBox="1"/>
          <p:nvPr/>
        </p:nvSpPr>
        <p:spPr>
          <a:xfrm>
            <a:off x="461772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16" name="grade G chip"/>
          <p:cNvSpPr/>
          <p:nvPr/>
        </p:nvSpPr>
        <p:spPr>
          <a:xfrm>
            <a:off x="5394960" y="4937760"/>
            <a:ext cx="594360" cy="594360"/>
          </a:xfrm>
          <a:prstGeom prst="ellipse">
            <a:avLst/>
          </a:prstGeom>
          <a:solidFill>
            <a:schemeClr val="accent2"/>
          </a:solidFill>
          <a:ln/>
        </p:spPr>
      </p:sp>
      <p:sp>
        <p:nvSpPr>
          <p:cNvPr id="17" name="grade G label"/>
          <p:cNvSpPr txBox="1"/>
          <p:nvPr/>
        </p:nvSpPr>
        <p:spPr>
          <a:xfrm>
            <a:off x="539496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G</a:t>
            </a:r>
            <a:endParaRPr lang="en-US" sz="2000" dirty="0"/>
          </a:p>
        </p:txBody>
      </p:sp>
      <p:sp>
        <p:nvSpPr>
          <p:cNvPr id="18" name="Text 16"/>
          <p:cNvSpPr txBox="1"/>
          <p:nvPr/>
        </p:nvSpPr>
        <p:spPr>
          <a:xfrm>
            <a:off x="731520" y="5669280"/>
            <a:ext cx="6400800" cy="365760"/>
          </a:xfrm>
          <a:prstGeom prst="rect">
            <a:avLst/>
          </a:prstGeom>
          <a:noFill/>
          <a:ln/>
        </p:spPr>
        <p:txBody>
          <a:bodyPr wrap="square" lIns="0" tIns="0" rIns="0" bIns="0" rtlCol="0" anchor="t"/>
          <a:lstStyle/>
          <a:p>
            <a:pPr indent="0" marL="0">
              <a:buNone/>
            </a:pPr>
            <a:r>
              <a:rPr lang="en-US" sz="1400" dirty="0">
                <a:solidFill>
                  <a:schemeClr val="accent5"/>
                </a:solidFill>
              </a:rPr>
              <a:t>Loan grades A–G, from safest to riskiest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One question, one competition</a:t>
            </a:r>
            <a:endParaRPr lang="en-US" sz="3600" dirty="0"/>
          </a:p>
        </p:txBody>
      </p:sp>
      <p:sp>
        <p:nvSpPr>
          <p:cNvPr id="3" name="question card"/>
          <p:cNvSpPr/>
          <p:nvPr/>
        </p:nvSpPr>
        <p:spPr>
          <a:xfrm>
            <a:off x="548640" y="1463040"/>
            <a:ext cx="6035040" cy="4480560"/>
          </a:xfrm>
          <a:prstGeom prst="roundRect">
            <a:avLst>
              <a:gd name="adj" fmla="val 2449"/>
            </a:avLst>
          </a:prstGeom>
          <a:solidFill>
            <a:schemeClr val="bg2"/>
          </a:solidFill>
          <a:ln/>
        </p:spPr>
      </p:sp>
      <p:sp>
        <p:nvSpPr>
          <p:cNvPr id="4" name="bank circle"/>
          <p:cNvSpPr/>
          <p:nvPr/>
        </p:nvSpPr>
        <p:spPr>
          <a:xfrm>
            <a:off x="914400" y="1828800"/>
            <a:ext cx="822960" cy="822960"/>
          </a:xfrm>
          <a:prstGeom prst="ellipse">
            <a:avLst/>
          </a:prstGeom>
          <a:solidFill>
            <a:schemeClr val="accent1"/>
          </a:solidFill>
          <a:ln/>
        </p:spPr>
      </p:sp>
      <p:pic>
        <p:nvPicPr>
          <p:cNvPr id="5" name="bank icon" descr="preencoded.png">    </p:cNvPr>
          <p:cNvPicPr>
            <a:picLocks noChangeAspect="1"/>
          </p:cNvPicPr>
          <p:nvPr/>
        </p:nvPicPr>
        <p:blipFill>
          <a:blip r:embed="rId1"/>
          <a:stretch>
            <a:fillRect/>
          </a:stretch>
        </p:blipFill>
        <p:spPr>
          <a:xfrm>
            <a:off x="1120140" y="2034540"/>
            <a:ext cx="411480" cy="411480"/>
          </a:xfrm>
          <a:prstGeom prst="rect">
            <a:avLst/>
          </a:prstGeom>
        </p:spPr>
      </p:pic>
      <p:sp>
        <p:nvSpPr>
          <p:cNvPr id="6" name="Text 3"/>
          <p:cNvSpPr txBox="1"/>
          <p:nvPr/>
        </p:nvSpPr>
        <p:spPr>
          <a:xfrm>
            <a:off x="914400" y="2880360"/>
            <a:ext cx="5303520" cy="1737360"/>
          </a:xfrm>
          <a:prstGeom prst="rect">
            <a:avLst/>
          </a:prstGeom>
          <a:noFill/>
          <a:ln/>
        </p:spPr>
        <p:txBody>
          <a:bodyPr wrap="square" lIns="0" tIns="0" rIns="0" bIns="0" rtlCol="0" anchor="t"/>
          <a:lstStyle/>
          <a:p>
            <a:pPr indent="0" marL="0">
              <a:buNone/>
            </a:pPr>
            <a:r>
              <a:rPr lang="en-US" sz="2600" i="1" dirty="0">
                <a:solidFill>
                  <a:schemeClr val="tx2"/>
                </a:solidFill>
                <a:latin typeface="Cambria" pitchFamily="34" charset="0"/>
                <a:ea typeface="Cambria" pitchFamily="34" charset="-122"/>
                <a:cs typeface="Cambria" pitchFamily="34" charset="-120"/>
              </a:rPr>
              <a:t>Given what we know about a loan applicant, will the loan end up with loan_status = 1?</a:t>
            </a:r>
            <a:endParaRPr lang="en-US" sz="2600" dirty="0"/>
          </a:p>
        </p:txBody>
      </p:sp>
      <p:sp>
        <p:nvSpPr>
          <p:cNvPr id="7" name="Text 4"/>
          <p:cNvSpPr txBox="1"/>
          <p:nvPr/>
        </p:nvSpPr>
        <p:spPr>
          <a:xfrm>
            <a:off x="914400" y="4709160"/>
            <a:ext cx="5303520" cy="1005840"/>
          </a:xfrm>
          <a:prstGeom prst="rect">
            <a:avLst/>
          </a:prstGeom>
          <a:noFill/>
          <a:ln/>
        </p:spPr>
        <p:txBody>
          <a:bodyPr wrap="square" lIns="0" tIns="0" rIns="0" bIns="0" rtlCol="0" anchor="t"/>
          <a:lstStyle/>
          <a:p>
            <a:pPr indent="0" marL="0">
              <a:buNone/>
            </a:pPr>
            <a:r>
              <a:rPr lang="en-US" sz="1600" dirty="0">
                <a:solidFill>
                  <a:schemeClr val="accent3"/>
                </a:solidFill>
              </a:rPr>
              <a:t>Lenders make this call every day. Approve too few and they lose business; approve the wrong ones and they lose money.</a:t>
            </a:r>
            <a:endParaRPr lang="en-US" sz="1600" dirty="0"/>
          </a:p>
        </p:txBody>
      </p:sp>
      <p:sp>
        <p:nvSpPr>
          <p:cNvPr id="8" name="stat 1 value"/>
          <p:cNvSpPr txBox="1"/>
          <p:nvPr/>
        </p:nvSpPr>
        <p:spPr>
          <a:xfrm>
            <a:off x="7132320" y="1463040"/>
            <a:ext cx="4480560" cy="868680"/>
          </a:xfrm>
          <a:prstGeom prst="rect">
            <a:avLst/>
          </a:prstGeom>
          <a:noFill/>
          <a:ln/>
        </p:spPr>
        <p:txBody>
          <a:bodyPr wrap="square" lIns="0" tIns="0" rIns="0" bIns="0" rtlCol="0" anchor="b"/>
          <a:lstStyle/>
          <a:p>
            <a:pPr indent="0" marL="0">
              <a:buNone/>
            </a:pPr>
            <a:r>
              <a:rPr lang="en-US" sz="6000" b="1" dirty="0">
                <a:solidFill>
                  <a:schemeClr val="accent1"/>
                </a:solidFill>
                <a:latin typeface="Cambria" pitchFamily="34" charset="0"/>
                <a:ea typeface="Cambria" pitchFamily="34" charset="-122"/>
                <a:cs typeface="Cambria" pitchFamily="34" charset="-120"/>
              </a:rPr>
              <a:t>58,645</a:t>
            </a:r>
            <a:endParaRPr lang="en-US" sz="6000" dirty="0"/>
          </a:p>
        </p:txBody>
      </p:sp>
      <p:sp>
        <p:nvSpPr>
          <p:cNvPr id="9" name="stat 1 label"/>
          <p:cNvSpPr txBox="1"/>
          <p:nvPr/>
        </p:nvSpPr>
        <p:spPr>
          <a:xfrm>
            <a:off x="7132320" y="2331720"/>
            <a:ext cx="4480560" cy="411480"/>
          </a:xfrm>
          <a:prstGeom prst="rect">
            <a:avLst/>
          </a:prstGeom>
          <a:noFill/>
          <a:ln/>
        </p:spPr>
        <p:txBody>
          <a:bodyPr wrap="square" lIns="0" tIns="0" rIns="0" bIns="0" rtlCol="0" anchor="t"/>
          <a:lstStyle/>
          <a:p>
            <a:pPr indent="0" marL="0">
              <a:buNone/>
            </a:pPr>
            <a:r>
              <a:rPr lang="en-US" sz="1600" dirty="0">
                <a:solidFill>
                  <a:schemeClr val="accent3"/>
                </a:solidFill>
              </a:rPr>
              <a:t>training loans, with the answer</a:t>
            </a:r>
            <a:endParaRPr lang="en-US" sz="1600" dirty="0"/>
          </a:p>
        </p:txBody>
      </p:sp>
      <p:sp>
        <p:nvSpPr>
          <p:cNvPr id="10" name="stat 2 value"/>
          <p:cNvSpPr txBox="1"/>
          <p:nvPr/>
        </p:nvSpPr>
        <p:spPr>
          <a:xfrm>
            <a:off x="7132320" y="3017520"/>
            <a:ext cx="4480560" cy="868680"/>
          </a:xfrm>
          <a:prstGeom prst="rect">
            <a:avLst/>
          </a:prstGeom>
          <a:noFill/>
          <a:ln/>
        </p:spPr>
        <p:txBody>
          <a:bodyPr wrap="square" lIns="0" tIns="0" rIns="0" bIns="0" rtlCol="0" anchor="b"/>
          <a:lstStyle/>
          <a:p>
            <a:pPr indent="0" marL="0">
              <a:buNone/>
            </a:pPr>
            <a:r>
              <a:rPr lang="en-US" sz="6000" b="1" dirty="0">
                <a:solidFill>
                  <a:schemeClr val="accent1"/>
                </a:solidFill>
                <a:latin typeface="Cambria" pitchFamily="34" charset="0"/>
                <a:ea typeface="Cambria" pitchFamily="34" charset="-122"/>
                <a:cs typeface="Cambria" pitchFamily="34" charset="-120"/>
              </a:rPr>
              <a:t>39,098</a:t>
            </a:r>
            <a:endParaRPr lang="en-US" sz="6000" dirty="0"/>
          </a:p>
        </p:txBody>
      </p:sp>
      <p:sp>
        <p:nvSpPr>
          <p:cNvPr id="11" name="stat 2 label"/>
          <p:cNvSpPr txBox="1"/>
          <p:nvPr/>
        </p:nvSpPr>
        <p:spPr>
          <a:xfrm>
            <a:off x="7132320" y="3886200"/>
            <a:ext cx="4480560" cy="411480"/>
          </a:xfrm>
          <a:prstGeom prst="rect">
            <a:avLst/>
          </a:prstGeom>
          <a:noFill/>
          <a:ln/>
        </p:spPr>
        <p:txBody>
          <a:bodyPr wrap="square" lIns="0" tIns="0" rIns="0" bIns="0" rtlCol="0" anchor="t"/>
          <a:lstStyle/>
          <a:p>
            <a:pPr indent="0" marL="0">
              <a:buNone/>
            </a:pPr>
            <a:r>
              <a:rPr lang="en-US" sz="1600" dirty="0">
                <a:solidFill>
                  <a:schemeClr val="accent3"/>
                </a:solidFill>
              </a:rPr>
              <a:t>test loans you'll predict</a:t>
            </a:r>
            <a:endParaRPr lang="en-US" sz="1600" dirty="0"/>
          </a:p>
        </p:txBody>
      </p:sp>
      <p:sp>
        <p:nvSpPr>
          <p:cNvPr id="12" name="stat 3 value"/>
          <p:cNvSpPr txBox="1"/>
          <p:nvPr/>
        </p:nvSpPr>
        <p:spPr>
          <a:xfrm>
            <a:off x="7132320" y="4572000"/>
            <a:ext cx="4480560" cy="8686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14%</a:t>
            </a:r>
            <a:endParaRPr lang="en-US" sz="6000" dirty="0"/>
          </a:p>
        </p:txBody>
      </p:sp>
      <p:sp>
        <p:nvSpPr>
          <p:cNvPr id="13" name="stat 3 label"/>
          <p:cNvSpPr txBox="1"/>
          <p:nvPr/>
        </p:nvSpPr>
        <p:spPr>
          <a:xfrm>
            <a:off x="7132320" y="5440680"/>
            <a:ext cx="4480560" cy="411480"/>
          </a:xfrm>
          <a:prstGeom prst="rect">
            <a:avLst/>
          </a:prstGeom>
          <a:noFill/>
          <a:ln/>
        </p:spPr>
        <p:txBody>
          <a:bodyPr wrap="square" lIns="0" tIns="0" rIns="0" bIns="0" rtlCol="0" anchor="t"/>
          <a:lstStyle/>
          <a:p>
            <a:pPr indent="0" marL="0">
              <a:buNone/>
            </a:pPr>
            <a:r>
              <a:rPr lang="en-US" sz="1600" dirty="0">
                <a:solidFill>
                  <a:schemeClr val="accent3"/>
                </a:solidFill>
              </a:rPr>
              <a:t>of loans have loan_status = 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Machine learning flips programming around</a:t>
            </a:r>
            <a:endParaRPr lang="en-US" sz="3600" dirty="0"/>
          </a:p>
        </p:txBody>
      </p:sp>
      <p:sp>
        <p:nvSpPr>
          <p:cNvPr id="3" name="Regular programming card"/>
          <p:cNvSpPr/>
          <p:nvPr/>
        </p:nvSpPr>
        <p:spPr>
          <a:xfrm>
            <a:off x="548640" y="1417320"/>
            <a:ext cx="5349240" cy="3246120"/>
          </a:xfrm>
          <a:prstGeom prst="roundRect">
            <a:avLst>
              <a:gd name="adj" fmla="val 3380"/>
            </a:avLst>
          </a:prstGeom>
          <a:solidFill>
            <a:schemeClr val="bg2"/>
          </a:solidFill>
          <a:ln/>
        </p:spPr>
      </p:sp>
      <p:sp>
        <p:nvSpPr>
          <p:cNvPr id="4" name="Text 2"/>
          <p:cNvSpPr txBox="1"/>
          <p:nvPr/>
        </p:nvSpPr>
        <p:spPr>
          <a:xfrm>
            <a:off x="868680" y="1645920"/>
            <a:ext cx="475488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Regular programming</a:t>
            </a:r>
            <a:endParaRPr lang="en-US" sz="2200" dirty="0"/>
          </a:p>
        </p:txBody>
      </p:sp>
      <p:sp>
        <p:nvSpPr>
          <p:cNvPr id="5" name="Text 3"/>
          <p:cNvSpPr txBox="1"/>
          <p:nvPr/>
        </p:nvSpPr>
        <p:spPr>
          <a:xfrm>
            <a:off x="868680" y="2103120"/>
            <a:ext cx="4754880" cy="365760"/>
          </a:xfrm>
          <a:prstGeom prst="rect">
            <a:avLst/>
          </a:prstGeom>
          <a:noFill/>
          <a:ln/>
        </p:spPr>
        <p:txBody>
          <a:bodyPr wrap="square" lIns="0" tIns="0" rIns="0" bIns="0" rtlCol="0" anchor="t"/>
          <a:lstStyle/>
          <a:p>
            <a:pPr indent="0" marL="0">
              <a:buNone/>
            </a:pPr>
            <a:r>
              <a:rPr lang="en-US" sz="1600" dirty="0">
                <a:solidFill>
                  <a:schemeClr val="accent3"/>
                </a:solidFill>
              </a:rPr>
              <a:t>You write the rules:  data + rules  →  answers</a:t>
            </a:r>
            <a:endParaRPr lang="en-US" sz="1600" dirty="0"/>
          </a:p>
        </p:txBody>
      </p:sp>
      <p:sp>
        <p:nvSpPr>
          <p:cNvPr id="6" name="Regular programming code bg"/>
          <p:cNvSpPr/>
          <p:nvPr/>
        </p:nvSpPr>
        <p:spPr>
          <a:xfrm>
            <a:off x="868680" y="2651760"/>
            <a:ext cx="4709160" cy="1737360"/>
          </a:xfrm>
          <a:prstGeom prst="roundRect">
            <a:avLst>
              <a:gd name="adj" fmla="val 5263"/>
            </a:avLst>
          </a:prstGeom>
          <a:solidFill>
            <a:schemeClr val="tx2"/>
          </a:solidFill>
          <a:ln/>
        </p:spPr>
      </p:sp>
      <p:sp>
        <p:nvSpPr>
          <p:cNvPr id="7" name="Regular programming code"/>
          <p:cNvSpPr txBox="1"/>
          <p:nvPr/>
        </p:nvSpPr>
        <p:spPr>
          <a:xfrm>
            <a:off x="1097280" y="2834640"/>
            <a:ext cx="4251960" cy="13716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if loan_grade in ["D", "E", "F", "G"]:</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prediction = 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else: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prediction = 0</a:t>
            </a:r>
            <a:endParaRPr lang="en-US" sz="1400" dirty="0"/>
          </a:p>
        </p:txBody>
      </p:sp>
      <p:sp>
        <p:nvSpPr>
          <p:cNvPr id="8" name="Machine learning card"/>
          <p:cNvSpPr/>
          <p:nvPr/>
        </p:nvSpPr>
        <p:spPr>
          <a:xfrm>
            <a:off x="6263640" y="1417320"/>
            <a:ext cx="5349240" cy="3246120"/>
          </a:xfrm>
          <a:prstGeom prst="roundRect">
            <a:avLst>
              <a:gd name="adj" fmla="val 3380"/>
            </a:avLst>
          </a:prstGeom>
          <a:solidFill>
            <a:schemeClr val="bg2"/>
          </a:solidFill>
          <a:ln/>
        </p:spPr>
      </p:sp>
      <p:sp>
        <p:nvSpPr>
          <p:cNvPr id="9" name="Text 7"/>
          <p:cNvSpPr txBox="1"/>
          <p:nvPr/>
        </p:nvSpPr>
        <p:spPr>
          <a:xfrm>
            <a:off x="6583680" y="1645920"/>
            <a:ext cx="475488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Machine learning</a:t>
            </a:r>
            <a:endParaRPr lang="en-US" sz="2200" dirty="0"/>
          </a:p>
        </p:txBody>
      </p:sp>
      <p:sp>
        <p:nvSpPr>
          <p:cNvPr id="10" name="Text 8"/>
          <p:cNvSpPr txBox="1"/>
          <p:nvPr/>
        </p:nvSpPr>
        <p:spPr>
          <a:xfrm>
            <a:off x="6583680" y="2103120"/>
            <a:ext cx="4754880" cy="365760"/>
          </a:xfrm>
          <a:prstGeom prst="rect">
            <a:avLst/>
          </a:prstGeom>
          <a:noFill/>
          <a:ln/>
        </p:spPr>
        <p:txBody>
          <a:bodyPr wrap="square" lIns="0" tIns="0" rIns="0" bIns="0" rtlCol="0" anchor="t"/>
          <a:lstStyle/>
          <a:p>
            <a:pPr indent="0" marL="0">
              <a:buNone/>
            </a:pPr>
            <a:r>
              <a:rPr lang="en-US" sz="1600" dirty="0">
                <a:solidFill>
                  <a:schemeClr val="accent3"/>
                </a:solidFill>
              </a:rPr>
              <a:t>The computer finds the rules:  data + answers  →  rules</a:t>
            </a:r>
            <a:endParaRPr lang="en-US" sz="1600" dirty="0"/>
          </a:p>
        </p:txBody>
      </p:sp>
      <p:sp>
        <p:nvSpPr>
          <p:cNvPr id="11" name="Machine learning code bg"/>
          <p:cNvSpPr/>
          <p:nvPr/>
        </p:nvSpPr>
        <p:spPr>
          <a:xfrm>
            <a:off x="6583680" y="2651760"/>
            <a:ext cx="4709160" cy="1737360"/>
          </a:xfrm>
          <a:prstGeom prst="roundRect">
            <a:avLst>
              <a:gd name="adj" fmla="val 5263"/>
            </a:avLst>
          </a:prstGeom>
          <a:solidFill>
            <a:schemeClr val="tx2"/>
          </a:solidFill>
          <a:ln/>
        </p:spPr>
      </p:sp>
      <p:sp>
        <p:nvSpPr>
          <p:cNvPr id="12" name="Machine learning code"/>
          <p:cNvSpPr txBox="1"/>
          <p:nvPr/>
        </p:nvSpPr>
        <p:spPr>
          <a:xfrm>
            <a:off x="6812280" y="2834640"/>
            <a:ext cx="4251960" cy="13716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model = DecisionTreeClassifier()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model.fit(X, y)</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model.predict(X_test)</a:t>
            </a:r>
            <a:endParaRPr lang="en-US" sz="1400" dirty="0"/>
          </a:p>
        </p:txBody>
      </p:sp>
      <p:sp>
        <p:nvSpPr>
          <p:cNvPr id="13" name="step 1 circle"/>
          <p:cNvSpPr/>
          <p:nvPr/>
        </p:nvSpPr>
        <p:spPr>
          <a:xfrm>
            <a:off x="548640" y="5029200"/>
            <a:ext cx="685800" cy="685800"/>
          </a:xfrm>
          <a:prstGeom prst="ellipse">
            <a:avLst/>
          </a:prstGeom>
          <a:solidFill>
            <a:schemeClr val="accent1"/>
          </a:solidFill>
          <a:ln/>
        </p:spPr>
      </p:sp>
      <p:sp>
        <p:nvSpPr>
          <p:cNvPr id="14" name="Text 12"/>
          <p:cNvSpPr txBox="1"/>
          <p:nvPr/>
        </p:nvSpPr>
        <p:spPr>
          <a:xfrm>
            <a:off x="548640" y="5029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15" name="Text 13"/>
          <p:cNvSpPr txBox="1"/>
          <p:nvPr/>
        </p:nvSpPr>
        <p:spPr>
          <a:xfrm>
            <a:off x="1371600" y="5029200"/>
            <a:ext cx="1920240" cy="731520"/>
          </a:xfrm>
          <a:prstGeom prst="rect">
            <a:avLst/>
          </a:prstGeom>
          <a:noFill/>
          <a:ln/>
        </p:spPr>
        <p:txBody>
          <a:bodyPr wrap="square" lIns="0" tIns="0" rIns="0" bIns="0" rtlCol="0" anchor="ctr"/>
          <a:lstStyle/>
          <a:p>
            <a:pPr indent="0" marL="0">
              <a:buNone/>
            </a:pPr>
            <a:r>
              <a:rPr lang="en-US" sz="1800" b="1" dirty="0">
                <a:solidFill>
                  <a:schemeClr val="tx2"/>
                </a:solidFill>
              </a:rPr>
              <a:t>Training</a:t>
            </a:r>
            <a:endParaRPr lang="en-US" sz="1800" dirty="0"/>
          </a:p>
          <a:p>
            <a:pPr indent="0" marL="0">
              <a:buNone/>
            </a:pPr>
            <a:r>
              <a:rPr lang="en-US" sz="1400" dirty="0">
                <a:solidFill>
                  <a:schemeClr val="accent3"/>
                </a:solidFill>
              </a:rPr>
              <a:t>everyday word: Study</a:t>
            </a:r>
            <a:endParaRPr lang="en-US" sz="1800" dirty="0"/>
          </a:p>
        </p:txBody>
      </p:sp>
      <p:sp>
        <p:nvSpPr>
          <p:cNvPr id="16" name="step 2 circle"/>
          <p:cNvSpPr/>
          <p:nvPr/>
        </p:nvSpPr>
        <p:spPr>
          <a:xfrm>
            <a:off x="3383280" y="5029200"/>
            <a:ext cx="685800" cy="685800"/>
          </a:xfrm>
          <a:prstGeom prst="ellipse">
            <a:avLst/>
          </a:prstGeom>
          <a:solidFill>
            <a:schemeClr val="accent1"/>
          </a:solidFill>
          <a:ln/>
        </p:spPr>
      </p:sp>
      <p:sp>
        <p:nvSpPr>
          <p:cNvPr id="17" name="Text 15"/>
          <p:cNvSpPr txBox="1"/>
          <p:nvPr/>
        </p:nvSpPr>
        <p:spPr>
          <a:xfrm>
            <a:off x="3383280" y="5029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8" name="Text 16"/>
          <p:cNvSpPr txBox="1"/>
          <p:nvPr/>
        </p:nvSpPr>
        <p:spPr>
          <a:xfrm>
            <a:off x="4206240" y="5029200"/>
            <a:ext cx="1920240" cy="731520"/>
          </a:xfrm>
          <a:prstGeom prst="rect">
            <a:avLst/>
          </a:prstGeom>
          <a:noFill/>
          <a:ln/>
        </p:spPr>
        <p:txBody>
          <a:bodyPr wrap="square" lIns="0" tIns="0" rIns="0" bIns="0" rtlCol="0" anchor="ctr"/>
          <a:lstStyle/>
          <a:p>
            <a:pPr indent="0" marL="0">
              <a:buNone/>
            </a:pPr>
            <a:r>
              <a:rPr lang="en-US" sz="1800" b="1" dirty="0">
                <a:solidFill>
                  <a:schemeClr val="tx2"/>
                </a:solidFill>
              </a:rPr>
              <a:t>Fitting</a:t>
            </a:r>
            <a:endParaRPr lang="en-US" sz="1800" dirty="0"/>
          </a:p>
          <a:p>
            <a:pPr indent="0" marL="0">
              <a:buNone/>
            </a:pPr>
            <a:r>
              <a:rPr lang="en-US" sz="1400" dirty="0">
                <a:solidFill>
                  <a:schemeClr val="accent3"/>
                </a:solidFill>
              </a:rPr>
              <a:t>everyday word: Learn</a:t>
            </a:r>
            <a:endParaRPr lang="en-US" sz="1800" dirty="0"/>
          </a:p>
        </p:txBody>
      </p:sp>
      <p:sp>
        <p:nvSpPr>
          <p:cNvPr id="19" name="step 3 circle"/>
          <p:cNvSpPr/>
          <p:nvPr/>
        </p:nvSpPr>
        <p:spPr>
          <a:xfrm>
            <a:off x="6217920" y="5029200"/>
            <a:ext cx="685800" cy="685800"/>
          </a:xfrm>
          <a:prstGeom prst="ellipse">
            <a:avLst/>
          </a:prstGeom>
          <a:solidFill>
            <a:schemeClr val="accent1"/>
          </a:solidFill>
          <a:ln/>
        </p:spPr>
      </p:sp>
      <p:sp>
        <p:nvSpPr>
          <p:cNvPr id="20" name="Text 18"/>
          <p:cNvSpPr txBox="1"/>
          <p:nvPr/>
        </p:nvSpPr>
        <p:spPr>
          <a:xfrm>
            <a:off x="6217920" y="5029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1" name="Text 19"/>
          <p:cNvSpPr txBox="1"/>
          <p:nvPr/>
        </p:nvSpPr>
        <p:spPr>
          <a:xfrm>
            <a:off x="7040880" y="5029200"/>
            <a:ext cx="1920240" cy="731520"/>
          </a:xfrm>
          <a:prstGeom prst="rect">
            <a:avLst/>
          </a:prstGeom>
          <a:noFill/>
          <a:ln/>
        </p:spPr>
        <p:txBody>
          <a:bodyPr wrap="square" lIns="0" tIns="0" rIns="0" bIns="0" rtlCol="0" anchor="ctr"/>
          <a:lstStyle/>
          <a:p>
            <a:pPr indent="0" marL="0">
              <a:buNone/>
            </a:pPr>
            <a:r>
              <a:rPr lang="en-US" sz="1800" b="1" dirty="0">
                <a:solidFill>
                  <a:schemeClr val="tx2"/>
                </a:solidFill>
              </a:rPr>
              <a:t>Predicting</a:t>
            </a:r>
            <a:endParaRPr lang="en-US" sz="1800" dirty="0"/>
          </a:p>
          <a:p>
            <a:pPr indent="0" marL="0">
              <a:buNone/>
            </a:pPr>
            <a:r>
              <a:rPr lang="en-US" sz="1400" dirty="0">
                <a:solidFill>
                  <a:schemeClr val="accent3"/>
                </a:solidFill>
              </a:rPr>
              <a:t>everyday word: Guess</a:t>
            </a:r>
            <a:endParaRPr lang="en-US" sz="1800" dirty="0"/>
          </a:p>
        </p:txBody>
      </p:sp>
      <p:sp>
        <p:nvSpPr>
          <p:cNvPr id="22" name="step 4 circle"/>
          <p:cNvSpPr/>
          <p:nvPr/>
        </p:nvSpPr>
        <p:spPr>
          <a:xfrm>
            <a:off x="9052560" y="5029200"/>
            <a:ext cx="685800" cy="685800"/>
          </a:xfrm>
          <a:prstGeom prst="ellipse">
            <a:avLst/>
          </a:prstGeom>
          <a:solidFill>
            <a:schemeClr val="accent1"/>
          </a:solidFill>
          <a:ln/>
        </p:spPr>
      </p:sp>
      <p:sp>
        <p:nvSpPr>
          <p:cNvPr id="23" name="Text 21"/>
          <p:cNvSpPr txBox="1"/>
          <p:nvPr/>
        </p:nvSpPr>
        <p:spPr>
          <a:xfrm>
            <a:off x="9052560" y="5029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4" name="Text 22"/>
          <p:cNvSpPr txBox="1"/>
          <p:nvPr/>
        </p:nvSpPr>
        <p:spPr>
          <a:xfrm>
            <a:off x="9875520" y="5029200"/>
            <a:ext cx="1920240" cy="731520"/>
          </a:xfrm>
          <a:prstGeom prst="rect">
            <a:avLst/>
          </a:prstGeom>
          <a:noFill/>
          <a:ln/>
        </p:spPr>
        <p:txBody>
          <a:bodyPr wrap="square" lIns="0" tIns="0" rIns="0" bIns="0" rtlCol="0" anchor="ctr"/>
          <a:lstStyle/>
          <a:p>
            <a:pPr indent="0" marL="0">
              <a:buNone/>
            </a:pPr>
            <a:r>
              <a:rPr lang="en-US" sz="1800" b="1" dirty="0">
                <a:solidFill>
                  <a:schemeClr val="tx2"/>
                </a:solidFill>
              </a:rPr>
              <a:t>Evaluating</a:t>
            </a:r>
            <a:endParaRPr lang="en-US" sz="1800" dirty="0"/>
          </a:p>
          <a:p>
            <a:pPr indent="0" marL="0">
              <a:buNone/>
            </a:pPr>
            <a:r>
              <a:rPr lang="en-US" sz="1400" dirty="0">
                <a:solidFill>
                  <a:schemeClr val="accent3"/>
                </a:solidFill>
              </a:rPr>
              <a:t>everyday word: Grade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a Kaggle competition works</a:t>
            </a:r>
            <a:endParaRPr lang="en-US" sz="3600" dirty="0"/>
          </a:p>
        </p:txBody>
      </p:sp>
      <p:sp>
        <p:nvSpPr>
          <p:cNvPr id="3" name="train.csv card"/>
          <p:cNvSpPr/>
          <p:nvPr/>
        </p:nvSpPr>
        <p:spPr>
          <a:xfrm>
            <a:off x="548640" y="1828800"/>
            <a:ext cx="1920240" cy="2743200"/>
          </a:xfrm>
          <a:prstGeom prst="roundRect">
            <a:avLst>
              <a:gd name="adj" fmla="val 5714"/>
            </a:avLst>
          </a:prstGeom>
          <a:solidFill>
            <a:schemeClr val="bg2"/>
          </a:solidFill>
          <a:ln/>
        </p:spPr>
      </p:sp>
      <p:sp>
        <p:nvSpPr>
          <p:cNvPr id="4" name="train.csv circle"/>
          <p:cNvSpPr/>
          <p:nvPr/>
        </p:nvSpPr>
        <p:spPr>
          <a:xfrm>
            <a:off x="1097280" y="2103120"/>
            <a:ext cx="822960" cy="822960"/>
          </a:xfrm>
          <a:prstGeom prst="ellipse">
            <a:avLst/>
          </a:prstGeom>
          <a:solidFill>
            <a:schemeClr val="accent1"/>
          </a:solidFill>
          <a:ln/>
        </p:spPr>
      </p:sp>
      <p:pic>
        <p:nvPicPr>
          <p:cNvPr id="5" name="train.csv icon" descr="preencoded.png">    </p:cNvPr>
          <p:cNvPicPr>
            <a:picLocks noChangeAspect="1"/>
          </p:cNvPicPr>
          <p:nvPr/>
        </p:nvPicPr>
        <p:blipFill>
          <a:blip r:embed="rId1"/>
          <a:stretch>
            <a:fillRect/>
          </a:stretch>
        </p:blipFill>
        <p:spPr>
          <a:xfrm>
            <a:off x="1303020" y="2308860"/>
            <a:ext cx="411480" cy="411480"/>
          </a:xfrm>
          <a:prstGeom prst="rect">
            <a:avLst/>
          </a:prstGeom>
        </p:spPr>
      </p:pic>
      <p:sp>
        <p:nvSpPr>
          <p:cNvPr id="6" name="Text 3"/>
          <p:cNvSpPr txBox="1"/>
          <p:nvPr/>
        </p:nvSpPr>
        <p:spPr>
          <a:xfrm>
            <a:off x="640080" y="310896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train.csv</a:t>
            </a:r>
            <a:endParaRPr lang="en-US" sz="1800" dirty="0"/>
          </a:p>
        </p:txBody>
      </p:sp>
      <p:sp>
        <p:nvSpPr>
          <p:cNvPr id="7" name="Text 4"/>
          <p:cNvSpPr txBox="1"/>
          <p:nvPr/>
        </p:nvSpPr>
        <p:spPr>
          <a:xfrm>
            <a:off x="685800" y="3566160"/>
            <a:ext cx="1645920" cy="822960"/>
          </a:xfrm>
          <a:prstGeom prst="rect">
            <a:avLst/>
          </a:prstGeom>
          <a:noFill/>
          <a:ln/>
        </p:spPr>
        <p:txBody>
          <a:bodyPr wrap="square" lIns="0" tIns="0" rIns="0" bIns="0" rtlCol="0" anchor="t"/>
          <a:lstStyle/>
          <a:p>
            <a:pPr algn="ctr" indent="0" marL="0">
              <a:buNone/>
            </a:pPr>
            <a:r>
              <a:rPr lang="en-US" sz="1400" dirty="0">
                <a:solidFill>
                  <a:schemeClr val="accent3"/>
                </a:solidFill>
              </a:rPr>
              <a:t>58,645 loans with the answer</a:t>
            </a:r>
            <a:endParaRPr lang="en-US" sz="1400" dirty="0"/>
          </a:p>
        </p:txBody>
      </p:sp>
      <p:sp>
        <p:nvSpPr>
          <p:cNvPr id="8" name="arrow 1"/>
          <p:cNvSpPr/>
          <p:nvPr/>
        </p:nvSpPr>
        <p:spPr>
          <a:xfrm>
            <a:off x="2496312" y="3017520"/>
            <a:ext cx="310896" cy="365760"/>
          </a:xfrm>
          <a:prstGeom prst="rightArrow">
            <a:avLst/>
          </a:prstGeom>
          <a:solidFill>
            <a:schemeClr val="accent5"/>
          </a:solidFill>
          <a:ln/>
        </p:spPr>
      </p:sp>
      <p:sp>
        <p:nvSpPr>
          <p:cNvPr id="9" name="Your model card"/>
          <p:cNvSpPr/>
          <p:nvPr/>
        </p:nvSpPr>
        <p:spPr>
          <a:xfrm>
            <a:off x="2834640" y="1828800"/>
            <a:ext cx="1920240" cy="2743200"/>
          </a:xfrm>
          <a:prstGeom prst="roundRect">
            <a:avLst>
              <a:gd name="adj" fmla="val 5714"/>
            </a:avLst>
          </a:prstGeom>
          <a:solidFill>
            <a:schemeClr val="bg2"/>
          </a:solidFill>
          <a:ln/>
        </p:spPr>
      </p:sp>
      <p:sp>
        <p:nvSpPr>
          <p:cNvPr id="10" name="Your model circle"/>
          <p:cNvSpPr/>
          <p:nvPr/>
        </p:nvSpPr>
        <p:spPr>
          <a:xfrm>
            <a:off x="3383280" y="2103120"/>
            <a:ext cx="822960" cy="822960"/>
          </a:xfrm>
          <a:prstGeom prst="ellipse">
            <a:avLst/>
          </a:prstGeom>
          <a:solidFill>
            <a:schemeClr val="accent1"/>
          </a:solidFill>
          <a:ln/>
        </p:spPr>
      </p:sp>
      <p:pic>
        <p:nvPicPr>
          <p:cNvPr id="11" name="Your model icon" descr="preencoded.png">    </p:cNvPr>
          <p:cNvPicPr>
            <a:picLocks noChangeAspect="1"/>
          </p:cNvPicPr>
          <p:nvPr/>
        </p:nvPicPr>
        <p:blipFill>
          <a:blip r:embed="rId2"/>
          <a:stretch>
            <a:fillRect/>
          </a:stretch>
        </p:blipFill>
        <p:spPr>
          <a:xfrm>
            <a:off x="3589020" y="2308860"/>
            <a:ext cx="411480" cy="411480"/>
          </a:xfrm>
          <a:prstGeom prst="rect">
            <a:avLst/>
          </a:prstGeom>
        </p:spPr>
      </p:pic>
      <p:sp>
        <p:nvSpPr>
          <p:cNvPr id="12" name="Text 8"/>
          <p:cNvSpPr txBox="1"/>
          <p:nvPr/>
        </p:nvSpPr>
        <p:spPr>
          <a:xfrm>
            <a:off x="2926080" y="310896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Your model</a:t>
            </a:r>
            <a:endParaRPr lang="en-US" sz="1800" dirty="0"/>
          </a:p>
        </p:txBody>
      </p:sp>
      <p:sp>
        <p:nvSpPr>
          <p:cNvPr id="13" name="Text 9"/>
          <p:cNvSpPr txBox="1"/>
          <p:nvPr/>
        </p:nvSpPr>
        <p:spPr>
          <a:xfrm>
            <a:off x="2971800" y="3566160"/>
            <a:ext cx="1645920" cy="822960"/>
          </a:xfrm>
          <a:prstGeom prst="rect">
            <a:avLst/>
          </a:prstGeom>
          <a:noFill/>
          <a:ln/>
        </p:spPr>
        <p:txBody>
          <a:bodyPr wrap="square" lIns="0" tIns="0" rIns="0" bIns="0" rtlCol="0" anchor="t"/>
          <a:lstStyle/>
          <a:p>
            <a:pPr algn="ctr" indent="0" marL="0">
              <a:buNone/>
            </a:pPr>
            <a:r>
              <a:rPr lang="en-US" sz="1400" dirty="0">
                <a:solidFill>
                  <a:schemeClr val="accent3"/>
                </a:solidFill>
              </a:rPr>
              <a:t>learns patterns from train</a:t>
            </a:r>
            <a:endParaRPr lang="en-US" sz="1400" dirty="0"/>
          </a:p>
        </p:txBody>
      </p:sp>
      <p:sp>
        <p:nvSpPr>
          <p:cNvPr id="14" name="arrow 2"/>
          <p:cNvSpPr/>
          <p:nvPr/>
        </p:nvSpPr>
        <p:spPr>
          <a:xfrm>
            <a:off x="4782312" y="3017520"/>
            <a:ext cx="310896" cy="365760"/>
          </a:xfrm>
          <a:prstGeom prst="rightArrow">
            <a:avLst/>
          </a:prstGeom>
          <a:solidFill>
            <a:schemeClr val="accent5"/>
          </a:solidFill>
          <a:ln/>
        </p:spPr>
      </p:sp>
      <p:sp>
        <p:nvSpPr>
          <p:cNvPr id="15" name="test.csv card"/>
          <p:cNvSpPr/>
          <p:nvPr/>
        </p:nvSpPr>
        <p:spPr>
          <a:xfrm>
            <a:off x="5120640" y="1828800"/>
            <a:ext cx="1920240" cy="2743200"/>
          </a:xfrm>
          <a:prstGeom prst="roundRect">
            <a:avLst>
              <a:gd name="adj" fmla="val 5714"/>
            </a:avLst>
          </a:prstGeom>
          <a:solidFill>
            <a:schemeClr val="bg2"/>
          </a:solidFill>
          <a:ln/>
        </p:spPr>
      </p:sp>
      <p:sp>
        <p:nvSpPr>
          <p:cNvPr id="16" name="test.csv circle"/>
          <p:cNvSpPr/>
          <p:nvPr/>
        </p:nvSpPr>
        <p:spPr>
          <a:xfrm>
            <a:off x="5669280" y="2103120"/>
            <a:ext cx="822960" cy="822960"/>
          </a:xfrm>
          <a:prstGeom prst="ellipse">
            <a:avLst/>
          </a:prstGeom>
          <a:solidFill>
            <a:schemeClr val="accent1"/>
          </a:solidFill>
          <a:ln/>
        </p:spPr>
      </p:sp>
      <p:pic>
        <p:nvPicPr>
          <p:cNvPr id="17" name="test.csv icon" descr="preencoded.png">    </p:cNvPr>
          <p:cNvPicPr>
            <a:picLocks noChangeAspect="1"/>
          </p:cNvPicPr>
          <p:nvPr/>
        </p:nvPicPr>
        <p:blipFill>
          <a:blip r:embed="rId3"/>
          <a:stretch>
            <a:fillRect/>
          </a:stretch>
        </p:blipFill>
        <p:spPr>
          <a:xfrm>
            <a:off x="5875020" y="2308860"/>
            <a:ext cx="411480" cy="411480"/>
          </a:xfrm>
          <a:prstGeom prst="rect">
            <a:avLst/>
          </a:prstGeom>
        </p:spPr>
      </p:pic>
      <p:sp>
        <p:nvSpPr>
          <p:cNvPr id="18" name="Text 13"/>
          <p:cNvSpPr txBox="1"/>
          <p:nvPr/>
        </p:nvSpPr>
        <p:spPr>
          <a:xfrm>
            <a:off x="5212080" y="310896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test.csv</a:t>
            </a:r>
            <a:endParaRPr lang="en-US" sz="1800" dirty="0"/>
          </a:p>
        </p:txBody>
      </p:sp>
      <p:sp>
        <p:nvSpPr>
          <p:cNvPr id="19" name="Text 14"/>
          <p:cNvSpPr txBox="1"/>
          <p:nvPr/>
        </p:nvSpPr>
        <p:spPr>
          <a:xfrm>
            <a:off x="5257800" y="3566160"/>
            <a:ext cx="1645920" cy="822960"/>
          </a:xfrm>
          <a:prstGeom prst="rect">
            <a:avLst/>
          </a:prstGeom>
          <a:noFill/>
          <a:ln/>
        </p:spPr>
        <p:txBody>
          <a:bodyPr wrap="square" lIns="0" tIns="0" rIns="0" bIns="0" rtlCol="0" anchor="t"/>
          <a:lstStyle/>
          <a:p>
            <a:pPr algn="ctr" indent="0" marL="0">
              <a:buNone/>
            </a:pPr>
            <a:r>
              <a:rPr lang="en-US" sz="1400" dirty="0">
                <a:solidFill>
                  <a:schemeClr val="accent3"/>
                </a:solidFill>
              </a:rPr>
              <a:t>39,098 loans, answers hidden</a:t>
            </a:r>
            <a:endParaRPr lang="en-US" sz="1400" dirty="0"/>
          </a:p>
        </p:txBody>
      </p:sp>
      <p:sp>
        <p:nvSpPr>
          <p:cNvPr id="20" name="arrow 3"/>
          <p:cNvSpPr/>
          <p:nvPr/>
        </p:nvSpPr>
        <p:spPr>
          <a:xfrm>
            <a:off x="7068312" y="3017520"/>
            <a:ext cx="310896" cy="365760"/>
          </a:xfrm>
          <a:prstGeom prst="rightArrow">
            <a:avLst/>
          </a:prstGeom>
          <a:solidFill>
            <a:schemeClr val="accent5"/>
          </a:solidFill>
          <a:ln/>
        </p:spPr>
      </p:sp>
      <p:sp>
        <p:nvSpPr>
          <p:cNvPr id="21" name="submission.csv card"/>
          <p:cNvSpPr/>
          <p:nvPr/>
        </p:nvSpPr>
        <p:spPr>
          <a:xfrm>
            <a:off x="7406640" y="1828800"/>
            <a:ext cx="1920240" cy="2743200"/>
          </a:xfrm>
          <a:prstGeom prst="roundRect">
            <a:avLst>
              <a:gd name="adj" fmla="val 5714"/>
            </a:avLst>
          </a:prstGeom>
          <a:solidFill>
            <a:schemeClr val="bg2"/>
          </a:solidFill>
          <a:ln/>
        </p:spPr>
      </p:sp>
      <p:sp>
        <p:nvSpPr>
          <p:cNvPr id="22" name="submission.csv circle"/>
          <p:cNvSpPr/>
          <p:nvPr/>
        </p:nvSpPr>
        <p:spPr>
          <a:xfrm>
            <a:off x="7955280" y="2103120"/>
            <a:ext cx="822960" cy="822960"/>
          </a:xfrm>
          <a:prstGeom prst="ellipse">
            <a:avLst/>
          </a:prstGeom>
          <a:solidFill>
            <a:schemeClr val="accent1"/>
          </a:solidFill>
          <a:ln/>
        </p:spPr>
      </p:sp>
      <p:pic>
        <p:nvPicPr>
          <p:cNvPr id="23" name="submission.csv icon" descr="preencoded.png">    </p:cNvPr>
          <p:cNvPicPr>
            <a:picLocks noChangeAspect="1"/>
          </p:cNvPicPr>
          <p:nvPr/>
        </p:nvPicPr>
        <p:blipFill>
          <a:blip r:embed="rId4"/>
          <a:stretch>
            <a:fillRect/>
          </a:stretch>
        </p:blipFill>
        <p:spPr>
          <a:xfrm>
            <a:off x="8161020" y="2308860"/>
            <a:ext cx="411480" cy="411480"/>
          </a:xfrm>
          <a:prstGeom prst="rect">
            <a:avLst/>
          </a:prstGeom>
        </p:spPr>
      </p:pic>
      <p:sp>
        <p:nvSpPr>
          <p:cNvPr id="24" name="Text 18"/>
          <p:cNvSpPr txBox="1"/>
          <p:nvPr/>
        </p:nvSpPr>
        <p:spPr>
          <a:xfrm>
            <a:off x="7498080" y="310896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submission.csv</a:t>
            </a:r>
            <a:endParaRPr lang="en-US" sz="1800" dirty="0"/>
          </a:p>
        </p:txBody>
      </p:sp>
      <p:sp>
        <p:nvSpPr>
          <p:cNvPr id="25" name="Text 19"/>
          <p:cNvSpPr txBox="1"/>
          <p:nvPr/>
        </p:nvSpPr>
        <p:spPr>
          <a:xfrm>
            <a:off x="7543800" y="3566160"/>
            <a:ext cx="1645920" cy="822960"/>
          </a:xfrm>
          <a:prstGeom prst="rect">
            <a:avLst/>
          </a:prstGeom>
          <a:noFill/>
          <a:ln/>
        </p:spPr>
        <p:txBody>
          <a:bodyPr wrap="square" lIns="0" tIns="0" rIns="0" bIns="0" rtlCol="0" anchor="t"/>
          <a:lstStyle/>
          <a:p>
            <a:pPr algn="ctr" indent="0" marL="0">
              <a:buNone/>
            </a:pPr>
            <a:r>
              <a:rPr lang="en-US" sz="1400" dirty="0">
                <a:solidFill>
                  <a:schemeClr val="accent3"/>
                </a:solidFill>
              </a:rPr>
              <a:t>a 0 or 1 for every test loan</a:t>
            </a:r>
            <a:endParaRPr lang="en-US" sz="1400" dirty="0"/>
          </a:p>
        </p:txBody>
      </p:sp>
      <p:sp>
        <p:nvSpPr>
          <p:cNvPr id="26" name="arrow 4"/>
          <p:cNvSpPr/>
          <p:nvPr/>
        </p:nvSpPr>
        <p:spPr>
          <a:xfrm>
            <a:off x="9354312" y="3017520"/>
            <a:ext cx="310896" cy="365760"/>
          </a:xfrm>
          <a:prstGeom prst="rightArrow">
            <a:avLst/>
          </a:prstGeom>
          <a:solidFill>
            <a:schemeClr val="accent5"/>
          </a:solidFill>
          <a:ln/>
        </p:spPr>
      </p:sp>
      <p:sp>
        <p:nvSpPr>
          <p:cNvPr id="27" name="Kaggle score card"/>
          <p:cNvSpPr/>
          <p:nvPr/>
        </p:nvSpPr>
        <p:spPr>
          <a:xfrm>
            <a:off x="9692640" y="1828800"/>
            <a:ext cx="1920240" cy="2743200"/>
          </a:xfrm>
          <a:prstGeom prst="roundRect">
            <a:avLst>
              <a:gd name="adj" fmla="val 5714"/>
            </a:avLst>
          </a:prstGeom>
          <a:solidFill>
            <a:schemeClr val="bg2"/>
          </a:solidFill>
          <a:ln/>
        </p:spPr>
      </p:sp>
      <p:sp>
        <p:nvSpPr>
          <p:cNvPr id="28" name="Kaggle score circle"/>
          <p:cNvSpPr/>
          <p:nvPr/>
        </p:nvSpPr>
        <p:spPr>
          <a:xfrm>
            <a:off x="10241280" y="2103120"/>
            <a:ext cx="822960" cy="822960"/>
          </a:xfrm>
          <a:prstGeom prst="ellipse">
            <a:avLst/>
          </a:prstGeom>
          <a:solidFill>
            <a:schemeClr val="accent2"/>
          </a:solidFill>
          <a:ln/>
        </p:spPr>
      </p:sp>
      <p:pic>
        <p:nvPicPr>
          <p:cNvPr id="29" name="Kaggle score icon" descr="preencoded.png">    </p:cNvPr>
          <p:cNvPicPr>
            <a:picLocks noChangeAspect="1"/>
          </p:cNvPicPr>
          <p:nvPr/>
        </p:nvPicPr>
        <p:blipFill>
          <a:blip r:embed="rId5"/>
          <a:stretch>
            <a:fillRect/>
          </a:stretch>
        </p:blipFill>
        <p:spPr>
          <a:xfrm>
            <a:off x="10447020" y="2308860"/>
            <a:ext cx="411480" cy="411480"/>
          </a:xfrm>
          <a:prstGeom prst="rect">
            <a:avLst/>
          </a:prstGeom>
        </p:spPr>
      </p:pic>
      <p:sp>
        <p:nvSpPr>
          <p:cNvPr id="30" name="Text 23"/>
          <p:cNvSpPr txBox="1"/>
          <p:nvPr/>
        </p:nvSpPr>
        <p:spPr>
          <a:xfrm>
            <a:off x="9784080" y="310896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Kaggle score</a:t>
            </a:r>
            <a:endParaRPr lang="en-US" sz="1800" dirty="0"/>
          </a:p>
        </p:txBody>
      </p:sp>
      <p:sp>
        <p:nvSpPr>
          <p:cNvPr id="31" name="Text 24"/>
          <p:cNvSpPr txBox="1"/>
          <p:nvPr/>
        </p:nvSpPr>
        <p:spPr>
          <a:xfrm>
            <a:off x="9829800" y="3566160"/>
            <a:ext cx="1645920" cy="822960"/>
          </a:xfrm>
          <a:prstGeom prst="rect">
            <a:avLst/>
          </a:prstGeom>
          <a:noFill/>
          <a:ln/>
        </p:spPr>
        <p:txBody>
          <a:bodyPr wrap="square" lIns="0" tIns="0" rIns="0" bIns="0" rtlCol="0" anchor="t"/>
          <a:lstStyle/>
          <a:p>
            <a:pPr algn="ctr" indent="0" marL="0">
              <a:buNone/>
            </a:pPr>
            <a:r>
              <a:rPr lang="en-US" sz="1400" dirty="0">
                <a:solidFill>
                  <a:schemeClr val="accent3"/>
                </a:solidFill>
              </a:rPr>
              <a:t>percent you got right</a:t>
            </a:r>
            <a:endParaRPr lang="en-US" sz="1400" dirty="0"/>
          </a:p>
        </p:txBody>
      </p:sp>
      <p:sp>
        <p:nvSpPr>
          <p:cNvPr id="32" name="secret circle"/>
          <p:cNvSpPr/>
          <p:nvPr/>
        </p:nvSpPr>
        <p:spPr>
          <a:xfrm>
            <a:off x="548640" y="5120640"/>
            <a:ext cx="548640" cy="548640"/>
          </a:xfrm>
          <a:prstGeom prst="ellipse">
            <a:avLst/>
          </a:prstGeom>
          <a:solidFill>
            <a:schemeClr val="bg2"/>
          </a:solidFill>
          <a:ln/>
        </p:spPr>
      </p:sp>
      <p:pic>
        <p:nvPicPr>
          <p:cNvPr id="33" name="secret icon" descr="preencoded.png">    </p:cNvPr>
          <p:cNvPicPr>
            <a:picLocks noChangeAspect="1"/>
          </p:cNvPicPr>
          <p:nvPr/>
        </p:nvPicPr>
        <p:blipFill>
          <a:blip r:embed="rId6"/>
          <a:stretch>
            <a:fillRect/>
          </a:stretch>
        </p:blipFill>
        <p:spPr>
          <a:xfrm>
            <a:off x="685800" y="5257800"/>
            <a:ext cx="274320" cy="274320"/>
          </a:xfrm>
          <a:prstGeom prst="rect">
            <a:avLst/>
          </a:prstGeom>
        </p:spPr>
      </p:pic>
      <p:sp>
        <p:nvSpPr>
          <p:cNvPr id="34" name="Text 26"/>
          <p:cNvSpPr txBox="1"/>
          <p:nvPr/>
        </p:nvSpPr>
        <p:spPr>
          <a:xfrm>
            <a:off x="1280160" y="5074920"/>
            <a:ext cx="10241280" cy="685800"/>
          </a:xfrm>
          <a:prstGeom prst="rect">
            <a:avLst/>
          </a:prstGeom>
          <a:noFill/>
          <a:ln/>
        </p:spPr>
        <p:txBody>
          <a:bodyPr wrap="square" lIns="0" tIns="0" rIns="0" bIns="0" rtlCol="0" anchor="ctr"/>
          <a:lstStyle/>
          <a:p>
            <a:pPr indent="0" marL="0">
              <a:buNone/>
            </a:pPr>
            <a:r>
              <a:rPr lang="en-US" sz="1600" dirty="0">
                <a:solidFill>
                  <a:schemeClr val="tx1"/>
                </a:solidFill>
              </a:rPr>
              <a:t>Kaggle secretly knows the answers for test.csv. Your score is accuracy: the share of test loans where your 0/1 matches the real answer. It goes on a public leaderboard.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Meet the data: 11 clues about every loan</a:t>
            </a:r>
            <a:endParaRPr lang="en-US" sz="3600" dirty="0"/>
          </a:p>
        </p:txBody>
      </p:sp>
      <p:sp>
        <p:nvSpPr>
          <p:cNvPr id="3" name="The person card"/>
          <p:cNvSpPr/>
          <p:nvPr/>
        </p:nvSpPr>
        <p:spPr>
          <a:xfrm>
            <a:off x="548640" y="1417320"/>
            <a:ext cx="3474720" cy="3611880"/>
          </a:xfrm>
          <a:prstGeom prst="roundRect">
            <a:avLst>
              <a:gd name="adj" fmla="val 3158"/>
            </a:avLst>
          </a:prstGeom>
          <a:solidFill>
            <a:schemeClr val="bg2"/>
          </a:solidFill>
          <a:ln/>
        </p:spPr>
      </p:sp>
      <p:sp>
        <p:nvSpPr>
          <p:cNvPr id="4" name="The person circle"/>
          <p:cNvSpPr/>
          <p:nvPr/>
        </p:nvSpPr>
        <p:spPr>
          <a:xfrm>
            <a:off x="868680" y="1691640"/>
            <a:ext cx="731520" cy="731520"/>
          </a:xfrm>
          <a:prstGeom prst="ellipse">
            <a:avLst/>
          </a:prstGeom>
          <a:solidFill>
            <a:schemeClr val="accent1"/>
          </a:solidFill>
          <a:ln/>
        </p:spPr>
      </p:sp>
      <p:pic>
        <p:nvPicPr>
          <p:cNvPr id="5" name="The person icon"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783080" y="1691640"/>
            <a:ext cx="210312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The person</a:t>
            </a:r>
            <a:endParaRPr lang="en-US" sz="2200" dirty="0"/>
          </a:p>
        </p:txBody>
      </p:sp>
      <p:sp>
        <p:nvSpPr>
          <p:cNvPr id="7" name="Text 4"/>
          <p:cNvSpPr txBox="1"/>
          <p:nvPr/>
        </p:nvSpPr>
        <p:spPr>
          <a:xfrm>
            <a:off x="868680" y="2651760"/>
            <a:ext cx="3017520" cy="21945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person_age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person_income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person_home_ownership</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person_emp_length</a:t>
            </a:r>
            <a:endParaRPr lang="en-US" sz="1400" dirty="0"/>
          </a:p>
        </p:txBody>
      </p:sp>
      <p:sp>
        <p:nvSpPr>
          <p:cNvPr id="8" name="The loan card"/>
          <p:cNvSpPr/>
          <p:nvPr/>
        </p:nvSpPr>
        <p:spPr>
          <a:xfrm>
            <a:off x="4297680" y="1417320"/>
            <a:ext cx="3474720" cy="3611880"/>
          </a:xfrm>
          <a:prstGeom prst="roundRect">
            <a:avLst>
              <a:gd name="adj" fmla="val 3158"/>
            </a:avLst>
          </a:prstGeom>
          <a:solidFill>
            <a:schemeClr val="bg2"/>
          </a:solidFill>
          <a:ln/>
        </p:spPr>
      </p:sp>
      <p:sp>
        <p:nvSpPr>
          <p:cNvPr id="9" name="The loan circle"/>
          <p:cNvSpPr/>
          <p:nvPr/>
        </p:nvSpPr>
        <p:spPr>
          <a:xfrm>
            <a:off x="4617720" y="1691640"/>
            <a:ext cx="731520" cy="731520"/>
          </a:xfrm>
          <a:prstGeom prst="ellipse">
            <a:avLst/>
          </a:prstGeom>
          <a:solidFill>
            <a:schemeClr val="accent1"/>
          </a:solidFill>
          <a:ln/>
        </p:spPr>
      </p:sp>
      <p:pic>
        <p:nvPicPr>
          <p:cNvPr id="10" name="The loan icon" descr="preencoded.png">    </p:cNvPr>
          <p:cNvPicPr>
            <a:picLocks noChangeAspect="1"/>
          </p:cNvPicPr>
          <p:nvPr/>
        </p:nvPicPr>
        <p:blipFill>
          <a:blip r:embed="rId2"/>
          <a:stretch>
            <a:fillRect/>
          </a:stretch>
        </p:blipFill>
        <p:spPr>
          <a:xfrm>
            <a:off x="4800600" y="1874520"/>
            <a:ext cx="365760" cy="365760"/>
          </a:xfrm>
          <a:prstGeom prst="rect">
            <a:avLst/>
          </a:prstGeom>
        </p:spPr>
      </p:pic>
      <p:sp>
        <p:nvSpPr>
          <p:cNvPr id="11" name="Text 7"/>
          <p:cNvSpPr txBox="1"/>
          <p:nvPr/>
        </p:nvSpPr>
        <p:spPr>
          <a:xfrm>
            <a:off x="5532120" y="1691640"/>
            <a:ext cx="210312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The loan</a:t>
            </a:r>
            <a:endParaRPr lang="en-US" sz="2200" dirty="0"/>
          </a:p>
        </p:txBody>
      </p:sp>
      <p:sp>
        <p:nvSpPr>
          <p:cNvPr id="12" name="Text 8"/>
          <p:cNvSpPr txBox="1"/>
          <p:nvPr/>
        </p:nvSpPr>
        <p:spPr>
          <a:xfrm>
            <a:off x="4617720" y="2651760"/>
            <a:ext cx="3017520" cy="21945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loan_intent</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loan_grade  (A–G)</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loan_amnt</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loan_int_rate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loan_percent_income</a:t>
            </a:r>
            <a:endParaRPr lang="en-US" sz="1400" dirty="0"/>
          </a:p>
        </p:txBody>
      </p:sp>
      <p:sp>
        <p:nvSpPr>
          <p:cNvPr id="13" name="Credit history card"/>
          <p:cNvSpPr/>
          <p:nvPr/>
        </p:nvSpPr>
        <p:spPr>
          <a:xfrm>
            <a:off x="8046720" y="1417320"/>
            <a:ext cx="3474720" cy="3611880"/>
          </a:xfrm>
          <a:prstGeom prst="roundRect">
            <a:avLst>
              <a:gd name="adj" fmla="val 3158"/>
            </a:avLst>
          </a:prstGeom>
          <a:solidFill>
            <a:schemeClr val="bg2"/>
          </a:solidFill>
          <a:ln/>
        </p:spPr>
      </p:sp>
      <p:sp>
        <p:nvSpPr>
          <p:cNvPr id="14" name="Credit history circle"/>
          <p:cNvSpPr/>
          <p:nvPr/>
        </p:nvSpPr>
        <p:spPr>
          <a:xfrm>
            <a:off x="8366760" y="1691640"/>
            <a:ext cx="731520" cy="731520"/>
          </a:xfrm>
          <a:prstGeom prst="ellipse">
            <a:avLst/>
          </a:prstGeom>
          <a:solidFill>
            <a:schemeClr val="accent1"/>
          </a:solidFill>
          <a:ln/>
        </p:spPr>
      </p:sp>
      <p:pic>
        <p:nvPicPr>
          <p:cNvPr id="15" name="Credit history icon" descr="preencoded.png">    </p:cNvPr>
          <p:cNvPicPr>
            <a:picLocks noChangeAspect="1"/>
          </p:cNvPicPr>
          <p:nvPr/>
        </p:nvPicPr>
        <p:blipFill>
          <a:blip r:embed="rId3"/>
          <a:stretch>
            <a:fillRect/>
          </a:stretch>
        </p:blipFill>
        <p:spPr>
          <a:xfrm>
            <a:off x="8549640" y="1874520"/>
            <a:ext cx="365760" cy="365760"/>
          </a:xfrm>
          <a:prstGeom prst="rect">
            <a:avLst/>
          </a:prstGeom>
        </p:spPr>
      </p:pic>
      <p:sp>
        <p:nvSpPr>
          <p:cNvPr id="16" name="Text 11"/>
          <p:cNvSpPr txBox="1"/>
          <p:nvPr/>
        </p:nvSpPr>
        <p:spPr>
          <a:xfrm>
            <a:off x="9281160" y="1691640"/>
            <a:ext cx="210312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Credit history</a:t>
            </a:r>
            <a:endParaRPr lang="en-US" sz="2200" dirty="0"/>
          </a:p>
        </p:txBody>
      </p:sp>
      <p:sp>
        <p:nvSpPr>
          <p:cNvPr id="17" name="Text 12"/>
          <p:cNvSpPr txBox="1"/>
          <p:nvPr/>
        </p:nvSpPr>
        <p:spPr>
          <a:xfrm>
            <a:off x="8366760" y="2651760"/>
            <a:ext cx="3017520" cy="21945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cb_person_default_on_file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cb_person_cred_hist_length</a:t>
            </a:r>
            <a:endParaRPr lang="en-US" sz="1400" dirty="0"/>
          </a:p>
        </p:txBody>
      </p:sp>
      <p:sp>
        <p:nvSpPr>
          <p:cNvPr id="18" name="target card"/>
          <p:cNvSpPr/>
          <p:nvPr/>
        </p:nvSpPr>
        <p:spPr>
          <a:xfrm>
            <a:off x="548640" y="5303520"/>
            <a:ext cx="11064240" cy="868680"/>
          </a:xfrm>
          <a:prstGeom prst="roundRect">
            <a:avLst>
              <a:gd name="adj" fmla="val 12632"/>
            </a:avLst>
          </a:prstGeom>
          <a:solidFill>
            <a:schemeClr val="tx2"/>
          </a:solidFill>
          <a:ln/>
        </p:spPr>
      </p:sp>
      <p:sp>
        <p:nvSpPr>
          <p:cNvPr id="19" name="Text 14"/>
          <p:cNvSpPr txBox="1"/>
          <p:nvPr/>
        </p:nvSpPr>
        <p:spPr>
          <a:xfrm>
            <a:off x="868680" y="5303520"/>
            <a:ext cx="10515600" cy="868680"/>
          </a:xfrm>
          <a:prstGeom prst="rect">
            <a:avLst/>
          </a:prstGeom>
          <a:noFill/>
          <a:ln/>
        </p:spPr>
        <p:txBody>
          <a:bodyPr wrap="square" lIns="0" tIns="0" rIns="0" bIns="0" rtlCol="0" anchor="ctr"/>
          <a:lstStyle/>
          <a:p>
            <a:pPr indent="0" marL="0">
              <a:buNone/>
            </a:pPr>
            <a:r>
              <a:rPr lang="en-US" sz="1800" b="1" dirty="0">
                <a:solidFill>
                  <a:schemeClr val="accent2"/>
                </a:solidFill>
              </a:rPr>
              <a:t>Target:  </a:t>
            </a:r>
            <a:pPr indent="0" marL="0">
              <a:buNone/>
            </a:pPr>
            <a:r>
              <a:rPr lang="en-US" sz="1800" dirty="0">
                <a:solidFill>
                  <a:schemeClr val="bg1"/>
                </a:solidFill>
                <a:latin typeface="Courier New" pitchFamily="34" charset="0"/>
                <a:ea typeface="Courier New" pitchFamily="34" charset="-122"/>
                <a:cs typeface="Courier New" pitchFamily="34" charset="-120"/>
              </a:rPr>
              <a:t>loan_status</a:t>
            </a:r>
            <a:pPr indent="0" marL="0">
              <a:buNone/>
            </a:pPr>
            <a:r>
              <a:rPr lang="en-US" sz="1800" dirty="0">
                <a:solidFill>
                  <a:schemeClr val="bg1"/>
                </a:solidFill>
              </a:rPr>
              <a:t>  = 0 or 1, in train.csv only. The thing you predict. Everything above is a feature.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1 · Explore: grade is the strongest signal</a:t>
            </a:r>
            <a:endParaRPr lang="en-US" sz="3600" dirty="0"/>
          </a:p>
        </p:txBody>
      </p:sp>
      <p:graphicFrame>
        <p:nvGraphicFramePr>
          <p:cNvPr id="3" name="rate by grade chart" descr=""/>
          <p:cNvGraphicFramePr/>
          <p:nvPr/>
        </p:nvGraphicFramePr>
        <p:xfrm>
          <a:off x="548640" y="13716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463040"/>
            <a:ext cx="3840480" cy="960120"/>
          </a:xfrm>
          <a:prstGeom prst="rect">
            <a:avLst/>
          </a:prstGeom>
          <a:noFill/>
          <a:ln/>
        </p:spPr>
        <p:txBody>
          <a:bodyPr wrap="square" lIns="0" tIns="0" rIns="0" bIns="0" rtlCol="0" anchor="t"/>
          <a:lstStyle/>
          <a:p>
            <a:pPr indent="0" marL="0">
              <a:buNone/>
            </a:pPr>
            <a:r>
              <a:rPr lang="en-US" sz="1600" b="1" dirty="0">
                <a:solidFill>
                  <a:schemeClr val="tx2"/>
                </a:solidFill>
              </a:rPr>
              <a:t>Grades D–G</a:t>
            </a:r>
            <a:endParaRPr lang="en-US" sz="1600" dirty="0"/>
          </a:p>
          <a:p>
            <a:pPr indent="0" marL="0">
              <a:buNone/>
            </a:pPr>
            <a:r>
              <a:rPr lang="en-US" sz="1600" dirty="0">
                <a:solidFill>
                  <a:schemeClr val="tx1"/>
                </a:solidFill>
              </a:rPr>
              <a:t>jump to 59–82%, versus 5–14% for A–C</a:t>
            </a:r>
            <a:endParaRPr lang="en-US" sz="1600" dirty="0"/>
          </a:p>
        </p:txBody>
      </p:sp>
      <p:sp>
        <p:nvSpPr>
          <p:cNvPr id="5" name="Text 2"/>
          <p:cNvSpPr txBox="1"/>
          <p:nvPr/>
        </p:nvSpPr>
        <p:spPr>
          <a:xfrm>
            <a:off x="7772400" y="2606040"/>
            <a:ext cx="3840480" cy="960120"/>
          </a:xfrm>
          <a:prstGeom prst="rect">
            <a:avLst/>
          </a:prstGeom>
          <a:noFill/>
          <a:ln/>
        </p:spPr>
        <p:txBody>
          <a:bodyPr wrap="square" lIns="0" tIns="0" rIns="0" bIns="0" rtlCol="0" anchor="t"/>
          <a:lstStyle/>
          <a:p>
            <a:pPr indent="0" marL="0">
              <a:buNone/>
            </a:pPr>
            <a:r>
              <a:rPr lang="en-US" sz="1600" b="1" dirty="0">
                <a:solidFill>
                  <a:schemeClr val="tx2"/>
                </a:solidFill>
              </a:rPr>
              <a:t>Renters</a:t>
            </a:r>
            <a:endParaRPr lang="en-US" sz="1600" dirty="0"/>
          </a:p>
          <a:p>
            <a:pPr indent="0" marL="0">
              <a:buNone/>
            </a:pPr>
            <a:r>
              <a:rPr lang="en-US" sz="1600" dirty="0">
                <a:solidFill>
                  <a:schemeClr val="tx1"/>
                </a:solidFill>
              </a:rPr>
              <a:t>22%, versus 6% with a mortgage and 1% who own</a:t>
            </a:r>
            <a:endParaRPr lang="en-US" sz="1600" dirty="0"/>
          </a:p>
        </p:txBody>
      </p:sp>
      <p:sp>
        <p:nvSpPr>
          <p:cNvPr id="6" name="Text 3"/>
          <p:cNvSpPr txBox="1"/>
          <p:nvPr/>
        </p:nvSpPr>
        <p:spPr>
          <a:xfrm>
            <a:off x="7772400" y="3749040"/>
            <a:ext cx="3840480" cy="960120"/>
          </a:xfrm>
          <a:prstGeom prst="rect">
            <a:avLst/>
          </a:prstGeom>
          <a:noFill/>
          <a:ln/>
        </p:spPr>
        <p:txBody>
          <a:bodyPr wrap="square" lIns="0" tIns="0" rIns="0" bIns="0" rtlCol="0" anchor="t"/>
          <a:lstStyle/>
          <a:p>
            <a:pPr indent="0" marL="0">
              <a:buNone/>
            </a:pPr>
            <a:r>
              <a:rPr lang="en-US" sz="1600" b="1" dirty="0">
                <a:solidFill>
                  <a:schemeClr val="tx2"/>
                </a:solidFill>
              </a:rPr>
              <a:t>Past default on file</a:t>
            </a:r>
            <a:endParaRPr lang="en-US" sz="1600" dirty="0"/>
          </a:p>
          <a:p>
            <a:pPr indent="0" marL="0">
              <a:buNone/>
            </a:pPr>
            <a:r>
              <a:rPr lang="en-US" sz="1600" dirty="0">
                <a:solidFill>
                  <a:schemeClr val="tx1"/>
                </a:solidFill>
              </a:rPr>
              <a:t>30%, versus 12% without one</a:t>
            </a:r>
            <a:endParaRPr lang="en-US" sz="1600" dirty="0"/>
          </a:p>
        </p:txBody>
      </p:sp>
      <p:sp>
        <p:nvSpPr>
          <p:cNvPr id="7" name="think card"/>
          <p:cNvSpPr/>
          <p:nvPr/>
        </p:nvSpPr>
        <p:spPr>
          <a:xfrm>
            <a:off x="7772400" y="4983480"/>
            <a:ext cx="3840480" cy="1143000"/>
          </a:xfrm>
          <a:prstGeom prst="roundRect">
            <a:avLst>
              <a:gd name="adj" fmla="val 9600"/>
            </a:avLst>
          </a:prstGeom>
          <a:solidFill>
            <a:schemeClr val="bg2"/>
          </a:solidFill>
          <a:ln/>
        </p:spPr>
      </p:sp>
      <p:sp>
        <p:nvSpPr>
          <p:cNvPr id="8" name="Text 5"/>
          <p:cNvSpPr txBox="1"/>
          <p:nvPr/>
        </p:nvSpPr>
        <p:spPr>
          <a:xfrm>
            <a:off x="8001000" y="5074920"/>
            <a:ext cx="3429000" cy="960120"/>
          </a:xfrm>
          <a:prstGeom prst="rect">
            <a:avLst/>
          </a:prstGeom>
          <a:noFill/>
          <a:ln/>
        </p:spPr>
        <p:txBody>
          <a:bodyPr wrap="square" lIns="0" tIns="0" rIns="0" bIns="0" rtlCol="0" anchor="ctr"/>
          <a:lstStyle/>
          <a:p>
            <a:pPr indent="0" marL="0">
              <a:buNone/>
            </a:pPr>
            <a:r>
              <a:rPr lang="en-US" sz="1400" i="1" dirty="0">
                <a:solidFill>
                  <a:schemeClr val="tx2"/>
                </a:solidFill>
              </a:rPr>
              <a:t>Think about it: does a high rate for a group prove that being in that group causes the outcome?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accuracy trap: 86% for doing nothing</a:t>
            </a:r>
            <a:endParaRPr lang="en-US" sz="3600" dirty="0"/>
          </a:p>
        </p:txBody>
      </p:sp>
      <p:sp>
        <p:nvSpPr>
          <p:cNvPr id="3" name="dot 1"/>
          <p:cNvSpPr/>
          <p:nvPr/>
        </p:nvSpPr>
        <p:spPr>
          <a:xfrm>
            <a:off x="731520" y="1508760"/>
            <a:ext cx="310896" cy="310896"/>
          </a:xfrm>
          <a:prstGeom prst="ellipse">
            <a:avLst/>
          </a:prstGeom>
          <a:solidFill>
            <a:schemeClr val="accent5"/>
          </a:solidFill>
          <a:ln/>
        </p:spPr>
      </p:sp>
      <p:sp>
        <p:nvSpPr>
          <p:cNvPr id="4" name="dot 2"/>
          <p:cNvSpPr/>
          <p:nvPr/>
        </p:nvSpPr>
        <p:spPr>
          <a:xfrm>
            <a:off x="1161288" y="1508760"/>
            <a:ext cx="310896" cy="310896"/>
          </a:xfrm>
          <a:prstGeom prst="ellipse">
            <a:avLst/>
          </a:prstGeom>
          <a:solidFill>
            <a:schemeClr val="accent5"/>
          </a:solidFill>
          <a:ln/>
        </p:spPr>
      </p:sp>
      <p:sp>
        <p:nvSpPr>
          <p:cNvPr id="5" name="dot 3"/>
          <p:cNvSpPr/>
          <p:nvPr/>
        </p:nvSpPr>
        <p:spPr>
          <a:xfrm>
            <a:off x="1591056" y="1508760"/>
            <a:ext cx="310896" cy="310896"/>
          </a:xfrm>
          <a:prstGeom prst="ellipse">
            <a:avLst/>
          </a:prstGeom>
          <a:solidFill>
            <a:schemeClr val="accent5"/>
          </a:solidFill>
          <a:ln/>
        </p:spPr>
      </p:sp>
      <p:sp>
        <p:nvSpPr>
          <p:cNvPr id="6" name="dot 4"/>
          <p:cNvSpPr/>
          <p:nvPr/>
        </p:nvSpPr>
        <p:spPr>
          <a:xfrm>
            <a:off x="2020824" y="1508760"/>
            <a:ext cx="310896" cy="310896"/>
          </a:xfrm>
          <a:prstGeom prst="ellipse">
            <a:avLst/>
          </a:prstGeom>
          <a:solidFill>
            <a:schemeClr val="accent5"/>
          </a:solidFill>
          <a:ln/>
        </p:spPr>
      </p:sp>
      <p:sp>
        <p:nvSpPr>
          <p:cNvPr id="7" name="dot 5"/>
          <p:cNvSpPr/>
          <p:nvPr/>
        </p:nvSpPr>
        <p:spPr>
          <a:xfrm>
            <a:off x="2450592" y="1508760"/>
            <a:ext cx="310896" cy="310896"/>
          </a:xfrm>
          <a:prstGeom prst="ellipse">
            <a:avLst/>
          </a:prstGeom>
          <a:solidFill>
            <a:schemeClr val="accent5"/>
          </a:solidFill>
          <a:ln/>
        </p:spPr>
      </p:sp>
      <p:sp>
        <p:nvSpPr>
          <p:cNvPr id="8" name="dot 6"/>
          <p:cNvSpPr/>
          <p:nvPr/>
        </p:nvSpPr>
        <p:spPr>
          <a:xfrm>
            <a:off x="2880360" y="1508760"/>
            <a:ext cx="310896" cy="310896"/>
          </a:xfrm>
          <a:prstGeom prst="ellipse">
            <a:avLst/>
          </a:prstGeom>
          <a:solidFill>
            <a:schemeClr val="accent5"/>
          </a:solidFill>
          <a:ln/>
        </p:spPr>
      </p:sp>
      <p:sp>
        <p:nvSpPr>
          <p:cNvPr id="9" name="dot 7"/>
          <p:cNvSpPr/>
          <p:nvPr/>
        </p:nvSpPr>
        <p:spPr>
          <a:xfrm>
            <a:off x="3310128" y="1508760"/>
            <a:ext cx="310896" cy="310896"/>
          </a:xfrm>
          <a:prstGeom prst="ellipse">
            <a:avLst/>
          </a:prstGeom>
          <a:solidFill>
            <a:schemeClr val="accent5"/>
          </a:solidFill>
          <a:ln/>
        </p:spPr>
      </p:sp>
      <p:sp>
        <p:nvSpPr>
          <p:cNvPr id="10" name="dot 8"/>
          <p:cNvSpPr/>
          <p:nvPr/>
        </p:nvSpPr>
        <p:spPr>
          <a:xfrm>
            <a:off x="3739896" y="1508760"/>
            <a:ext cx="310896" cy="310896"/>
          </a:xfrm>
          <a:prstGeom prst="ellipse">
            <a:avLst/>
          </a:prstGeom>
          <a:solidFill>
            <a:schemeClr val="accent5"/>
          </a:solidFill>
          <a:ln/>
        </p:spPr>
      </p:sp>
      <p:sp>
        <p:nvSpPr>
          <p:cNvPr id="11" name="dot 9"/>
          <p:cNvSpPr/>
          <p:nvPr/>
        </p:nvSpPr>
        <p:spPr>
          <a:xfrm>
            <a:off x="4169664" y="1508760"/>
            <a:ext cx="310896" cy="310896"/>
          </a:xfrm>
          <a:prstGeom prst="ellipse">
            <a:avLst/>
          </a:prstGeom>
          <a:solidFill>
            <a:schemeClr val="accent5"/>
          </a:solidFill>
          <a:ln/>
        </p:spPr>
      </p:sp>
      <p:sp>
        <p:nvSpPr>
          <p:cNvPr id="12" name="dot 10"/>
          <p:cNvSpPr/>
          <p:nvPr/>
        </p:nvSpPr>
        <p:spPr>
          <a:xfrm>
            <a:off x="4599432" y="1508760"/>
            <a:ext cx="310896" cy="310896"/>
          </a:xfrm>
          <a:prstGeom prst="ellipse">
            <a:avLst/>
          </a:prstGeom>
          <a:solidFill>
            <a:schemeClr val="accent5"/>
          </a:solidFill>
          <a:ln/>
        </p:spPr>
      </p:sp>
      <p:sp>
        <p:nvSpPr>
          <p:cNvPr id="13" name="dot 11"/>
          <p:cNvSpPr/>
          <p:nvPr/>
        </p:nvSpPr>
        <p:spPr>
          <a:xfrm>
            <a:off x="731520" y="1938528"/>
            <a:ext cx="310896" cy="310896"/>
          </a:xfrm>
          <a:prstGeom prst="ellipse">
            <a:avLst/>
          </a:prstGeom>
          <a:solidFill>
            <a:schemeClr val="accent5"/>
          </a:solidFill>
          <a:ln/>
        </p:spPr>
      </p:sp>
      <p:sp>
        <p:nvSpPr>
          <p:cNvPr id="14" name="dot 12"/>
          <p:cNvSpPr/>
          <p:nvPr/>
        </p:nvSpPr>
        <p:spPr>
          <a:xfrm>
            <a:off x="1161288" y="1938528"/>
            <a:ext cx="310896" cy="310896"/>
          </a:xfrm>
          <a:prstGeom prst="ellipse">
            <a:avLst/>
          </a:prstGeom>
          <a:solidFill>
            <a:schemeClr val="accent5"/>
          </a:solidFill>
          <a:ln/>
        </p:spPr>
      </p:sp>
      <p:sp>
        <p:nvSpPr>
          <p:cNvPr id="15" name="dot 13"/>
          <p:cNvSpPr/>
          <p:nvPr/>
        </p:nvSpPr>
        <p:spPr>
          <a:xfrm>
            <a:off x="1591056" y="1938528"/>
            <a:ext cx="310896" cy="310896"/>
          </a:xfrm>
          <a:prstGeom prst="ellipse">
            <a:avLst/>
          </a:prstGeom>
          <a:solidFill>
            <a:schemeClr val="accent5"/>
          </a:solidFill>
          <a:ln/>
        </p:spPr>
      </p:sp>
      <p:sp>
        <p:nvSpPr>
          <p:cNvPr id="16" name="dot 14"/>
          <p:cNvSpPr/>
          <p:nvPr/>
        </p:nvSpPr>
        <p:spPr>
          <a:xfrm>
            <a:off x="2020824" y="1938528"/>
            <a:ext cx="310896" cy="310896"/>
          </a:xfrm>
          <a:prstGeom prst="ellipse">
            <a:avLst/>
          </a:prstGeom>
          <a:solidFill>
            <a:schemeClr val="accent5"/>
          </a:solidFill>
          <a:ln/>
        </p:spPr>
      </p:sp>
      <p:sp>
        <p:nvSpPr>
          <p:cNvPr id="17" name="dot 15"/>
          <p:cNvSpPr/>
          <p:nvPr/>
        </p:nvSpPr>
        <p:spPr>
          <a:xfrm>
            <a:off x="2450592" y="1938528"/>
            <a:ext cx="310896" cy="310896"/>
          </a:xfrm>
          <a:prstGeom prst="ellipse">
            <a:avLst/>
          </a:prstGeom>
          <a:solidFill>
            <a:schemeClr val="accent5"/>
          </a:solidFill>
          <a:ln/>
        </p:spPr>
      </p:sp>
      <p:sp>
        <p:nvSpPr>
          <p:cNvPr id="18" name="dot 16"/>
          <p:cNvSpPr/>
          <p:nvPr/>
        </p:nvSpPr>
        <p:spPr>
          <a:xfrm>
            <a:off x="2880360" y="1938528"/>
            <a:ext cx="310896" cy="310896"/>
          </a:xfrm>
          <a:prstGeom prst="ellipse">
            <a:avLst/>
          </a:prstGeom>
          <a:solidFill>
            <a:schemeClr val="accent5"/>
          </a:solidFill>
          <a:ln/>
        </p:spPr>
      </p:sp>
      <p:sp>
        <p:nvSpPr>
          <p:cNvPr id="19" name="dot 17"/>
          <p:cNvSpPr/>
          <p:nvPr/>
        </p:nvSpPr>
        <p:spPr>
          <a:xfrm>
            <a:off x="3310128" y="1938528"/>
            <a:ext cx="310896" cy="310896"/>
          </a:xfrm>
          <a:prstGeom prst="ellipse">
            <a:avLst/>
          </a:prstGeom>
          <a:solidFill>
            <a:schemeClr val="accent5"/>
          </a:solidFill>
          <a:ln/>
        </p:spPr>
      </p:sp>
      <p:sp>
        <p:nvSpPr>
          <p:cNvPr id="20" name="dot 18"/>
          <p:cNvSpPr/>
          <p:nvPr/>
        </p:nvSpPr>
        <p:spPr>
          <a:xfrm>
            <a:off x="3739896" y="1938528"/>
            <a:ext cx="310896" cy="310896"/>
          </a:xfrm>
          <a:prstGeom prst="ellipse">
            <a:avLst/>
          </a:prstGeom>
          <a:solidFill>
            <a:schemeClr val="accent5"/>
          </a:solidFill>
          <a:ln/>
        </p:spPr>
      </p:sp>
      <p:sp>
        <p:nvSpPr>
          <p:cNvPr id="21" name="dot 19"/>
          <p:cNvSpPr/>
          <p:nvPr/>
        </p:nvSpPr>
        <p:spPr>
          <a:xfrm>
            <a:off x="4169664" y="1938528"/>
            <a:ext cx="310896" cy="310896"/>
          </a:xfrm>
          <a:prstGeom prst="ellipse">
            <a:avLst/>
          </a:prstGeom>
          <a:solidFill>
            <a:schemeClr val="accent5"/>
          </a:solidFill>
          <a:ln/>
        </p:spPr>
      </p:sp>
      <p:sp>
        <p:nvSpPr>
          <p:cNvPr id="22" name="dot 20"/>
          <p:cNvSpPr/>
          <p:nvPr/>
        </p:nvSpPr>
        <p:spPr>
          <a:xfrm>
            <a:off x="4599432" y="1938528"/>
            <a:ext cx="310896" cy="310896"/>
          </a:xfrm>
          <a:prstGeom prst="ellipse">
            <a:avLst/>
          </a:prstGeom>
          <a:solidFill>
            <a:schemeClr val="accent5"/>
          </a:solidFill>
          <a:ln/>
        </p:spPr>
      </p:sp>
      <p:sp>
        <p:nvSpPr>
          <p:cNvPr id="23" name="dot 21"/>
          <p:cNvSpPr/>
          <p:nvPr/>
        </p:nvSpPr>
        <p:spPr>
          <a:xfrm>
            <a:off x="731520" y="2368296"/>
            <a:ext cx="310896" cy="310896"/>
          </a:xfrm>
          <a:prstGeom prst="ellipse">
            <a:avLst/>
          </a:prstGeom>
          <a:solidFill>
            <a:schemeClr val="accent5"/>
          </a:solidFill>
          <a:ln/>
        </p:spPr>
      </p:sp>
      <p:sp>
        <p:nvSpPr>
          <p:cNvPr id="24" name="dot 22"/>
          <p:cNvSpPr/>
          <p:nvPr/>
        </p:nvSpPr>
        <p:spPr>
          <a:xfrm>
            <a:off x="1161288" y="2368296"/>
            <a:ext cx="310896" cy="310896"/>
          </a:xfrm>
          <a:prstGeom prst="ellipse">
            <a:avLst/>
          </a:prstGeom>
          <a:solidFill>
            <a:schemeClr val="accent5"/>
          </a:solidFill>
          <a:ln/>
        </p:spPr>
      </p:sp>
      <p:sp>
        <p:nvSpPr>
          <p:cNvPr id="25" name="dot 23"/>
          <p:cNvSpPr/>
          <p:nvPr/>
        </p:nvSpPr>
        <p:spPr>
          <a:xfrm>
            <a:off x="1591056" y="2368296"/>
            <a:ext cx="310896" cy="310896"/>
          </a:xfrm>
          <a:prstGeom prst="ellipse">
            <a:avLst/>
          </a:prstGeom>
          <a:solidFill>
            <a:schemeClr val="accent5"/>
          </a:solidFill>
          <a:ln/>
        </p:spPr>
      </p:sp>
      <p:sp>
        <p:nvSpPr>
          <p:cNvPr id="26" name="dot 24"/>
          <p:cNvSpPr/>
          <p:nvPr/>
        </p:nvSpPr>
        <p:spPr>
          <a:xfrm>
            <a:off x="2020824" y="2368296"/>
            <a:ext cx="310896" cy="310896"/>
          </a:xfrm>
          <a:prstGeom prst="ellipse">
            <a:avLst/>
          </a:prstGeom>
          <a:solidFill>
            <a:schemeClr val="accent5"/>
          </a:solidFill>
          <a:ln/>
        </p:spPr>
      </p:sp>
      <p:sp>
        <p:nvSpPr>
          <p:cNvPr id="27" name="dot 25"/>
          <p:cNvSpPr/>
          <p:nvPr/>
        </p:nvSpPr>
        <p:spPr>
          <a:xfrm>
            <a:off x="2450592" y="2368296"/>
            <a:ext cx="310896" cy="310896"/>
          </a:xfrm>
          <a:prstGeom prst="ellipse">
            <a:avLst/>
          </a:prstGeom>
          <a:solidFill>
            <a:schemeClr val="accent5"/>
          </a:solidFill>
          <a:ln/>
        </p:spPr>
      </p:sp>
      <p:sp>
        <p:nvSpPr>
          <p:cNvPr id="28" name="dot 26"/>
          <p:cNvSpPr/>
          <p:nvPr/>
        </p:nvSpPr>
        <p:spPr>
          <a:xfrm>
            <a:off x="2880360" y="2368296"/>
            <a:ext cx="310896" cy="310896"/>
          </a:xfrm>
          <a:prstGeom prst="ellipse">
            <a:avLst/>
          </a:prstGeom>
          <a:solidFill>
            <a:schemeClr val="accent5"/>
          </a:solidFill>
          <a:ln/>
        </p:spPr>
      </p:sp>
      <p:sp>
        <p:nvSpPr>
          <p:cNvPr id="29" name="dot 27"/>
          <p:cNvSpPr/>
          <p:nvPr/>
        </p:nvSpPr>
        <p:spPr>
          <a:xfrm>
            <a:off x="3310128" y="2368296"/>
            <a:ext cx="310896" cy="310896"/>
          </a:xfrm>
          <a:prstGeom prst="ellipse">
            <a:avLst/>
          </a:prstGeom>
          <a:solidFill>
            <a:schemeClr val="accent5"/>
          </a:solidFill>
          <a:ln/>
        </p:spPr>
      </p:sp>
      <p:sp>
        <p:nvSpPr>
          <p:cNvPr id="30" name="dot 28"/>
          <p:cNvSpPr/>
          <p:nvPr/>
        </p:nvSpPr>
        <p:spPr>
          <a:xfrm>
            <a:off x="3739896" y="2368296"/>
            <a:ext cx="310896" cy="310896"/>
          </a:xfrm>
          <a:prstGeom prst="ellipse">
            <a:avLst/>
          </a:prstGeom>
          <a:solidFill>
            <a:schemeClr val="accent5"/>
          </a:solidFill>
          <a:ln/>
        </p:spPr>
      </p:sp>
      <p:sp>
        <p:nvSpPr>
          <p:cNvPr id="31" name="dot 29"/>
          <p:cNvSpPr/>
          <p:nvPr/>
        </p:nvSpPr>
        <p:spPr>
          <a:xfrm>
            <a:off x="4169664" y="2368296"/>
            <a:ext cx="310896" cy="310896"/>
          </a:xfrm>
          <a:prstGeom prst="ellipse">
            <a:avLst/>
          </a:prstGeom>
          <a:solidFill>
            <a:schemeClr val="accent5"/>
          </a:solidFill>
          <a:ln/>
        </p:spPr>
      </p:sp>
      <p:sp>
        <p:nvSpPr>
          <p:cNvPr id="32" name="dot 30"/>
          <p:cNvSpPr/>
          <p:nvPr/>
        </p:nvSpPr>
        <p:spPr>
          <a:xfrm>
            <a:off x="4599432" y="2368296"/>
            <a:ext cx="310896" cy="310896"/>
          </a:xfrm>
          <a:prstGeom prst="ellipse">
            <a:avLst/>
          </a:prstGeom>
          <a:solidFill>
            <a:schemeClr val="accent5"/>
          </a:solidFill>
          <a:ln/>
        </p:spPr>
      </p:sp>
      <p:sp>
        <p:nvSpPr>
          <p:cNvPr id="33" name="dot 31"/>
          <p:cNvSpPr/>
          <p:nvPr/>
        </p:nvSpPr>
        <p:spPr>
          <a:xfrm>
            <a:off x="731520" y="2798064"/>
            <a:ext cx="310896" cy="310896"/>
          </a:xfrm>
          <a:prstGeom prst="ellipse">
            <a:avLst/>
          </a:prstGeom>
          <a:solidFill>
            <a:schemeClr val="accent5"/>
          </a:solidFill>
          <a:ln/>
        </p:spPr>
      </p:sp>
      <p:sp>
        <p:nvSpPr>
          <p:cNvPr id="34" name="dot 32"/>
          <p:cNvSpPr/>
          <p:nvPr/>
        </p:nvSpPr>
        <p:spPr>
          <a:xfrm>
            <a:off x="1161288" y="2798064"/>
            <a:ext cx="310896" cy="310896"/>
          </a:xfrm>
          <a:prstGeom prst="ellipse">
            <a:avLst/>
          </a:prstGeom>
          <a:solidFill>
            <a:schemeClr val="accent5"/>
          </a:solidFill>
          <a:ln/>
        </p:spPr>
      </p:sp>
      <p:sp>
        <p:nvSpPr>
          <p:cNvPr id="35" name="dot 33"/>
          <p:cNvSpPr/>
          <p:nvPr/>
        </p:nvSpPr>
        <p:spPr>
          <a:xfrm>
            <a:off x="1591056" y="2798064"/>
            <a:ext cx="310896" cy="310896"/>
          </a:xfrm>
          <a:prstGeom prst="ellipse">
            <a:avLst/>
          </a:prstGeom>
          <a:solidFill>
            <a:schemeClr val="accent5"/>
          </a:solidFill>
          <a:ln/>
        </p:spPr>
      </p:sp>
      <p:sp>
        <p:nvSpPr>
          <p:cNvPr id="36" name="dot 34"/>
          <p:cNvSpPr/>
          <p:nvPr/>
        </p:nvSpPr>
        <p:spPr>
          <a:xfrm>
            <a:off x="2020824" y="2798064"/>
            <a:ext cx="310896" cy="310896"/>
          </a:xfrm>
          <a:prstGeom prst="ellipse">
            <a:avLst/>
          </a:prstGeom>
          <a:solidFill>
            <a:schemeClr val="accent5"/>
          </a:solidFill>
          <a:ln/>
        </p:spPr>
      </p:sp>
      <p:sp>
        <p:nvSpPr>
          <p:cNvPr id="37" name="dot 35"/>
          <p:cNvSpPr/>
          <p:nvPr/>
        </p:nvSpPr>
        <p:spPr>
          <a:xfrm>
            <a:off x="2450592" y="2798064"/>
            <a:ext cx="310896" cy="310896"/>
          </a:xfrm>
          <a:prstGeom prst="ellipse">
            <a:avLst/>
          </a:prstGeom>
          <a:solidFill>
            <a:schemeClr val="accent5"/>
          </a:solidFill>
          <a:ln/>
        </p:spPr>
      </p:sp>
      <p:sp>
        <p:nvSpPr>
          <p:cNvPr id="38" name="dot 36"/>
          <p:cNvSpPr/>
          <p:nvPr/>
        </p:nvSpPr>
        <p:spPr>
          <a:xfrm>
            <a:off x="2880360" y="2798064"/>
            <a:ext cx="310896" cy="310896"/>
          </a:xfrm>
          <a:prstGeom prst="ellipse">
            <a:avLst/>
          </a:prstGeom>
          <a:solidFill>
            <a:schemeClr val="accent5"/>
          </a:solidFill>
          <a:ln/>
        </p:spPr>
      </p:sp>
      <p:sp>
        <p:nvSpPr>
          <p:cNvPr id="39" name="dot 37"/>
          <p:cNvSpPr/>
          <p:nvPr/>
        </p:nvSpPr>
        <p:spPr>
          <a:xfrm>
            <a:off x="3310128" y="2798064"/>
            <a:ext cx="310896" cy="310896"/>
          </a:xfrm>
          <a:prstGeom prst="ellipse">
            <a:avLst/>
          </a:prstGeom>
          <a:solidFill>
            <a:schemeClr val="accent5"/>
          </a:solidFill>
          <a:ln/>
        </p:spPr>
      </p:sp>
      <p:sp>
        <p:nvSpPr>
          <p:cNvPr id="40" name="dot 38"/>
          <p:cNvSpPr/>
          <p:nvPr/>
        </p:nvSpPr>
        <p:spPr>
          <a:xfrm>
            <a:off x="3739896" y="2798064"/>
            <a:ext cx="310896" cy="310896"/>
          </a:xfrm>
          <a:prstGeom prst="ellipse">
            <a:avLst/>
          </a:prstGeom>
          <a:solidFill>
            <a:schemeClr val="accent5"/>
          </a:solidFill>
          <a:ln/>
        </p:spPr>
      </p:sp>
      <p:sp>
        <p:nvSpPr>
          <p:cNvPr id="41" name="dot 39"/>
          <p:cNvSpPr/>
          <p:nvPr/>
        </p:nvSpPr>
        <p:spPr>
          <a:xfrm>
            <a:off x="4169664" y="2798064"/>
            <a:ext cx="310896" cy="310896"/>
          </a:xfrm>
          <a:prstGeom prst="ellipse">
            <a:avLst/>
          </a:prstGeom>
          <a:solidFill>
            <a:schemeClr val="accent5"/>
          </a:solidFill>
          <a:ln/>
        </p:spPr>
      </p:sp>
      <p:sp>
        <p:nvSpPr>
          <p:cNvPr id="42" name="dot 40"/>
          <p:cNvSpPr/>
          <p:nvPr/>
        </p:nvSpPr>
        <p:spPr>
          <a:xfrm>
            <a:off x="4599432" y="2798064"/>
            <a:ext cx="310896" cy="310896"/>
          </a:xfrm>
          <a:prstGeom prst="ellipse">
            <a:avLst/>
          </a:prstGeom>
          <a:solidFill>
            <a:schemeClr val="accent5"/>
          </a:solidFill>
          <a:ln/>
        </p:spPr>
      </p:sp>
      <p:sp>
        <p:nvSpPr>
          <p:cNvPr id="43" name="dot 41"/>
          <p:cNvSpPr/>
          <p:nvPr/>
        </p:nvSpPr>
        <p:spPr>
          <a:xfrm>
            <a:off x="731520" y="3227832"/>
            <a:ext cx="310896" cy="310896"/>
          </a:xfrm>
          <a:prstGeom prst="ellipse">
            <a:avLst/>
          </a:prstGeom>
          <a:solidFill>
            <a:schemeClr val="accent5"/>
          </a:solidFill>
          <a:ln/>
        </p:spPr>
      </p:sp>
      <p:sp>
        <p:nvSpPr>
          <p:cNvPr id="44" name="dot 42"/>
          <p:cNvSpPr/>
          <p:nvPr/>
        </p:nvSpPr>
        <p:spPr>
          <a:xfrm>
            <a:off x="1161288" y="3227832"/>
            <a:ext cx="310896" cy="310896"/>
          </a:xfrm>
          <a:prstGeom prst="ellipse">
            <a:avLst/>
          </a:prstGeom>
          <a:solidFill>
            <a:schemeClr val="accent5"/>
          </a:solidFill>
          <a:ln/>
        </p:spPr>
      </p:sp>
      <p:sp>
        <p:nvSpPr>
          <p:cNvPr id="45" name="dot 43"/>
          <p:cNvSpPr/>
          <p:nvPr/>
        </p:nvSpPr>
        <p:spPr>
          <a:xfrm>
            <a:off x="1591056" y="3227832"/>
            <a:ext cx="310896" cy="310896"/>
          </a:xfrm>
          <a:prstGeom prst="ellipse">
            <a:avLst/>
          </a:prstGeom>
          <a:solidFill>
            <a:schemeClr val="accent5"/>
          </a:solidFill>
          <a:ln/>
        </p:spPr>
      </p:sp>
      <p:sp>
        <p:nvSpPr>
          <p:cNvPr id="46" name="dot 44"/>
          <p:cNvSpPr/>
          <p:nvPr/>
        </p:nvSpPr>
        <p:spPr>
          <a:xfrm>
            <a:off x="2020824" y="3227832"/>
            <a:ext cx="310896" cy="310896"/>
          </a:xfrm>
          <a:prstGeom prst="ellipse">
            <a:avLst/>
          </a:prstGeom>
          <a:solidFill>
            <a:schemeClr val="accent5"/>
          </a:solidFill>
          <a:ln/>
        </p:spPr>
      </p:sp>
      <p:sp>
        <p:nvSpPr>
          <p:cNvPr id="47" name="dot 45"/>
          <p:cNvSpPr/>
          <p:nvPr/>
        </p:nvSpPr>
        <p:spPr>
          <a:xfrm>
            <a:off x="2450592" y="3227832"/>
            <a:ext cx="310896" cy="310896"/>
          </a:xfrm>
          <a:prstGeom prst="ellipse">
            <a:avLst/>
          </a:prstGeom>
          <a:solidFill>
            <a:schemeClr val="accent5"/>
          </a:solidFill>
          <a:ln/>
        </p:spPr>
      </p:sp>
      <p:sp>
        <p:nvSpPr>
          <p:cNvPr id="48" name="dot 46"/>
          <p:cNvSpPr/>
          <p:nvPr/>
        </p:nvSpPr>
        <p:spPr>
          <a:xfrm>
            <a:off x="2880360" y="3227832"/>
            <a:ext cx="310896" cy="310896"/>
          </a:xfrm>
          <a:prstGeom prst="ellipse">
            <a:avLst/>
          </a:prstGeom>
          <a:solidFill>
            <a:schemeClr val="accent5"/>
          </a:solidFill>
          <a:ln/>
        </p:spPr>
      </p:sp>
      <p:sp>
        <p:nvSpPr>
          <p:cNvPr id="49" name="dot 47"/>
          <p:cNvSpPr/>
          <p:nvPr/>
        </p:nvSpPr>
        <p:spPr>
          <a:xfrm>
            <a:off x="3310128" y="3227832"/>
            <a:ext cx="310896" cy="310896"/>
          </a:xfrm>
          <a:prstGeom prst="ellipse">
            <a:avLst/>
          </a:prstGeom>
          <a:solidFill>
            <a:schemeClr val="accent5"/>
          </a:solidFill>
          <a:ln/>
        </p:spPr>
      </p:sp>
      <p:sp>
        <p:nvSpPr>
          <p:cNvPr id="50" name="dot 48"/>
          <p:cNvSpPr/>
          <p:nvPr/>
        </p:nvSpPr>
        <p:spPr>
          <a:xfrm>
            <a:off x="3739896" y="3227832"/>
            <a:ext cx="310896" cy="310896"/>
          </a:xfrm>
          <a:prstGeom prst="ellipse">
            <a:avLst/>
          </a:prstGeom>
          <a:solidFill>
            <a:schemeClr val="accent5"/>
          </a:solidFill>
          <a:ln/>
        </p:spPr>
      </p:sp>
      <p:sp>
        <p:nvSpPr>
          <p:cNvPr id="51" name="dot 49"/>
          <p:cNvSpPr/>
          <p:nvPr/>
        </p:nvSpPr>
        <p:spPr>
          <a:xfrm>
            <a:off x="4169664" y="3227832"/>
            <a:ext cx="310896" cy="310896"/>
          </a:xfrm>
          <a:prstGeom prst="ellipse">
            <a:avLst/>
          </a:prstGeom>
          <a:solidFill>
            <a:schemeClr val="accent5"/>
          </a:solidFill>
          <a:ln/>
        </p:spPr>
      </p:sp>
      <p:sp>
        <p:nvSpPr>
          <p:cNvPr id="52" name="dot 50"/>
          <p:cNvSpPr/>
          <p:nvPr/>
        </p:nvSpPr>
        <p:spPr>
          <a:xfrm>
            <a:off x="4599432" y="3227832"/>
            <a:ext cx="310896" cy="310896"/>
          </a:xfrm>
          <a:prstGeom prst="ellipse">
            <a:avLst/>
          </a:prstGeom>
          <a:solidFill>
            <a:schemeClr val="accent5"/>
          </a:solidFill>
          <a:ln/>
        </p:spPr>
      </p:sp>
      <p:sp>
        <p:nvSpPr>
          <p:cNvPr id="53" name="dot 51"/>
          <p:cNvSpPr/>
          <p:nvPr/>
        </p:nvSpPr>
        <p:spPr>
          <a:xfrm>
            <a:off x="731520" y="3657600"/>
            <a:ext cx="310896" cy="310896"/>
          </a:xfrm>
          <a:prstGeom prst="ellipse">
            <a:avLst/>
          </a:prstGeom>
          <a:solidFill>
            <a:schemeClr val="accent5"/>
          </a:solidFill>
          <a:ln/>
        </p:spPr>
      </p:sp>
      <p:sp>
        <p:nvSpPr>
          <p:cNvPr id="54" name="dot 52"/>
          <p:cNvSpPr/>
          <p:nvPr/>
        </p:nvSpPr>
        <p:spPr>
          <a:xfrm>
            <a:off x="1161288" y="3657600"/>
            <a:ext cx="310896" cy="310896"/>
          </a:xfrm>
          <a:prstGeom prst="ellipse">
            <a:avLst/>
          </a:prstGeom>
          <a:solidFill>
            <a:schemeClr val="accent5"/>
          </a:solidFill>
          <a:ln/>
        </p:spPr>
      </p:sp>
      <p:sp>
        <p:nvSpPr>
          <p:cNvPr id="55" name="dot 53"/>
          <p:cNvSpPr/>
          <p:nvPr/>
        </p:nvSpPr>
        <p:spPr>
          <a:xfrm>
            <a:off x="1591056" y="3657600"/>
            <a:ext cx="310896" cy="310896"/>
          </a:xfrm>
          <a:prstGeom prst="ellipse">
            <a:avLst/>
          </a:prstGeom>
          <a:solidFill>
            <a:schemeClr val="accent5"/>
          </a:solidFill>
          <a:ln/>
        </p:spPr>
      </p:sp>
      <p:sp>
        <p:nvSpPr>
          <p:cNvPr id="56" name="dot 54"/>
          <p:cNvSpPr/>
          <p:nvPr/>
        </p:nvSpPr>
        <p:spPr>
          <a:xfrm>
            <a:off x="2020824" y="3657600"/>
            <a:ext cx="310896" cy="310896"/>
          </a:xfrm>
          <a:prstGeom prst="ellipse">
            <a:avLst/>
          </a:prstGeom>
          <a:solidFill>
            <a:schemeClr val="accent5"/>
          </a:solidFill>
          <a:ln/>
        </p:spPr>
      </p:sp>
      <p:sp>
        <p:nvSpPr>
          <p:cNvPr id="57" name="dot 55"/>
          <p:cNvSpPr/>
          <p:nvPr/>
        </p:nvSpPr>
        <p:spPr>
          <a:xfrm>
            <a:off x="2450592" y="3657600"/>
            <a:ext cx="310896" cy="310896"/>
          </a:xfrm>
          <a:prstGeom prst="ellipse">
            <a:avLst/>
          </a:prstGeom>
          <a:solidFill>
            <a:schemeClr val="accent5"/>
          </a:solidFill>
          <a:ln/>
        </p:spPr>
      </p:sp>
      <p:sp>
        <p:nvSpPr>
          <p:cNvPr id="58" name="dot 56"/>
          <p:cNvSpPr/>
          <p:nvPr/>
        </p:nvSpPr>
        <p:spPr>
          <a:xfrm>
            <a:off x="2880360" y="3657600"/>
            <a:ext cx="310896" cy="310896"/>
          </a:xfrm>
          <a:prstGeom prst="ellipse">
            <a:avLst/>
          </a:prstGeom>
          <a:solidFill>
            <a:schemeClr val="accent5"/>
          </a:solidFill>
          <a:ln/>
        </p:spPr>
      </p:sp>
      <p:sp>
        <p:nvSpPr>
          <p:cNvPr id="59" name="dot 57"/>
          <p:cNvSpPr/>
          <p:nvPr/>
        </p:nvSpPr>
        <p:spPr>
          <a:xfrm>
            <a:off x="3310128" y="3657600"/>
            <a:ext cx="310896" cy="310896"/>
          </a:xfrm>
          <a:prstGeom prst="ellipse">
            <a:avLst/>
          </a:prstGeom>
          <a:solidFill>
            <a:schemeClr val="accent5"/>
          </a:solidFill>
          <a:ln/>
        </p:spPr>
      </p:sp>
      <p:sp>
        <p:nvSpPr>
          <p:cNvPr id="60" name="dot 58"/>
          <p:cNvSpPr/>
          <p:nvPr/>
        </p:nvSpPr>
        <p:spPr>
          <a:xfrm>
            <a:off x="3739896" y="3657600"/>
            <a:ext cx="310896" cy="310896"/>
          </a:xfrm>
          <a:prstGeom prst="ellipse">
            <a:avLst/>
          </a:prstGeom>
          <a:solidFill>
            <a:schemeClr val="accent5"/>
          </a:solidFill>
          <a:ln/>
        </p:spPr>
      </p:sp>
      <p:sp>
        <p:nvSpPr>
          <p:cNvPr id="61" name="dot 59"/>
          <p:cNvSpPr/>
          <p:nvPr/>
        </p:nvSpPr>
        <p:spPr>
          <a:xfrm>
            <a:off x="4169664" y="3657600"/>
            <a:ext cx="310896" cy="310896"/>
          </a:xfrm>
          <a:prstGeom prst="ellipse">
            <a:avLst/>
          </a:prstGeom>
          <a:solidFill>
            <a:schemeClr val="accent5"/>
          </a:solidFill>
          <a:ln/>
        </p:spPr>
      </p:sp>
      <p:sp>
        <p:nvSpPr>
          <p:cNvPr id="62" name="dot 60"/>
          <p:cNvSpPr/>
          <p:nvPr/>
        </p:nvSpPr>
        <p:spPr>
          <a:xfrm>
            <a:off x="4599432" y="3657600"/>
            <a:ext cx="310896" cy="310896"/>
          </a:xfrm>
          <a:prstGeom prst="ellipse">
            <a:avLst/>
          </a:prstGeom>
          <a:solidFill>
            <a:schemeClr val="accent5"/>
          </a:solidFill>
          <a:ln/>
        </p:spPr>
      </p:sp>
      <p:sp>
        <p:nvSpPr>
          <p:cNvPr id="63" name="dot 61"/>
          <p:cNvSpPr/>
          <p:nvPr/>
        </p:nvSpPr>
        <p:spPr>
          <a:xfrm>
            <a:off x="731520" y="4087368"/>
            <a:ext cx="310896" cy="310896"/>
          </a:xfrm>
          <a:prstGeom prst="ellipse">
            <a:avLst/>
          </a:prstGeom>
          <a:solidFill>
            <a:schemeClr val="accent5"/>
          </a:solidFill>
          <a:ln/>
        </p:spPr>
      </p:sp>
      <p:sp>
        <p:nvSpPr>
          <p:cNvPr id="64" name="dot 62"/>
          <p:cNvSpPr/>
          <p:nvPr/>
        </p:nvSpPr>
        <p:spPr>
          <a:xfrm>
            <a:off x="1161288" y="4087368"/>
            <a:ext cx="310896" cy="310896"/>
          </a:xfrm>
          <a:prstGeom prst="ellipse">
            <a:avLst/>
          </a:prstGeom>
          <a:solidFill>
            <a:schemeClr val="accent5"/>
          </a:solidFill>
          <a:ln/>
        </p:spPr>
      </p:sp>
      <p:sp>
        <p:nvSpPr>
          <p:cNvPr id="65" name="dot 63"/>
          <p:cNvSpPr/>
          <p:nvPr/>
        </p:nvSpPr>
        <p:spPr>
          <a:xfrm>
            <a:off x="1591056" y="4087368"/>
            <a:ext cx="310896" cy="310896"/>
          </a:xfrm>
          <a:prstGeom prst="ellipse">
            <a:avLst/>
          </a:prstGeom>
          <a:solidFill>
            <a:schemeClr val="accent5"/>
          </a:solidFill>
          <a:ln/>
        </p:spPr>
      </p:sp>
      <p:sp>
        <p:nvSpPr>
          <p:cNvPr id="66" name="dot 64"/>
          <p:cNvSpPr/>
          <p:nvPr/>
        </p:nvSpPr>
        <p:spPr>
          <a:xfrm>
            <a:off x="2020824" y="4087368"/>
            <a:ext cx="310896" cy="310896"/>
          </a:xfrm>
          <a:prstGeom prst="ellipse">
            <a:avLst/>
          </a:prstGeom>
          <a:solidFill>
            <a:schemeClr val="accent5"/>
          </a:solidFill>
          <a:ln/>
        </p:spPr>
      </p:sp>
      <p:sp>
        <p:nvSpPr>
          <p:cNvPr id="67" name="dot 65"/>
          <p:cNvSpPr/>
          <p:nvPr/>
        </p:nvSpPr>
        <p:spPr>
          <a:xfrm>
            <a:off x="2450592" y="4087368"/>
            <a:ext cx="310896" cy="310896"/>
          </a:xfrm>
          <a:prstGeom prst="ellipse">
            <a:avLst/>
          </a:prstGeom>
          <a:solidFill>
            <a:schemeClr val="accent5"/>
          </a:solidFill>
          <a:ln/>
        </p:spPr>
      </p:sp>
      <p:sp>
        <p:nvSpPr>
          <p:cNvPr id="68" name="dot 66"/>
          <p:cNvSpPr/>
          <p:nvPr/>
        </p:nvSpPr>
        <p:spPr>
          <a:xfrm>
            <a:off x="2880360" y="4087368"/>
            <a:ext cx="310896" cy="310896"/>
          </a:xfrm>
          <a:prstGeom prst="ellipse">
            <a:avLst/>
          </a:prstGeom>
          <a:solidFill>
            <a:schemeClr val="accent5"/>
          </a:solidFill>
          <a:ln/>
        </p:spPr>
      </p:sp>
      <p:sp>
        <p:nvSpPr>
          <p:cNvPr id="69" name="dot 67"/>
          <p:cNvSpPr/>
          <p:nvPr/>
        </p:nvSpPr>
        <p:spPr>
          <a:xfrm>
            <a:off x="3310128" y="4087368"/>
            <a:ext cx="310896" cy="310896"/>
          </a:xfrm>
          <a:prstGeom prst="ellipse">
            <a:avLst/>
          </a:prstGeom>
          <a:solidFill>
            <a:schemeClr val="accent5"/>
          </a:solidFill>
          <a:ln/>
        </p:spPr>
      </p:sp>
      <p:sp>
        <p:nvSpPr>
          <p:cNvPr id="70" name="dot 68"/>
          <p:cNvSpPr/>
          <p:nvPr/>
        </p:nvSpPr>
        <p:spPr>
          <a:xfrm>
            <a:off x="3739896" y="4087368"/>
            <a:ext cx="310896" cy="310896"/>
          </a:xfrm>
          <a:prstGeom prst="ellipse">
            <a:avLst/>
          </a:prstGeom>
          <a:solidFill>
            <a:schemeClr val="accent5"/>
          </a:solidFill>
          <a:ln/>
        </p:spPr>
      </p:sp>
      <p:sp>
        <p:nvSpPr>
          <p:cNvPr id="71" name="dot 69"/>
          <p:cNvSpPr/>
          <p:nvPr/>
        </p:nvSpPr>
        <p:spPr>
          <a:xfrm>
            <a:off x="4169664" y="4087368"/>
            <a:ext cx="310896" cy="310896"/>
          </a:xfrm>
          <a:prstGeom prst="ellipse">
            <a:avLst/>
          </a:prstGeom>
          <a:solidFill>
            <a:schemeClr val="accent5"/>
          </a:solidFill>
          <a:ln/>
        </p:spPr>
      </p:sp>
      <p:sp>
        <p:nvSpPr>
          <p:cNvPr id="72" name="dot 70"/>
          <p:cNvSpPr/>
          <p:nvPr/>
        </p:nvSpPr>
        <p:spPr>
          <a:xfrm>
            <a:off x="4599432" y="4087368"/>
            <a:ext cx="310896" cy="310896"/>
          </a:xfrm>
          <a:prstGeom prst="ellipse">
            <a:avLst/>
          </a:prstGeom>
          <a:solidFill>
            <a:schemeClr val="accent5"/>
          </a:solidFill>
          <a:ln/>
        </p:spPr>
      </p:sp>
      <p:sp>
        <p:nvSpPr>
          <p:cNvPr id="73" name="dot 71"/>
          <p:cNvSpPr/>
          <p:nvPr/>
        </p:nvSpPr>
        <p:spPr>
          <a:xfrm>
            <a:off x="731520" y="4517136"/>
            <a:ext cx="310896" cy="310896"/>
          </a:xfrm>
          <a:prstGeom prst="ellipse">
            <a:avLst/>
          </a:prstGeom>
          <a:solidFill>
            <a:schemeClr val="accent5"/>
          </a:solidFill>
          <a:ln/>
        </p:spPr>
      </p:sp>
      <p:sp>
        <p:nvSpPr>
          <p:cNvPr id="74" name="dot 72"/>
          <p:cNvSpPr/>
          <p:nvPr/>
        </p:nvSpPr>
        <p:spPr>
          <a:xfrm>
            <a:off x="1161288" y="4517136"/>
            <a:ext cx="310896" cy="310896"/>
          </a:xfrm>
          <a:prstGeom prst="ellipse">
            <a:avLst/>
          </a:prstGeom>
          <a:solidFill>
            <a:schemeClr val="accent5"/>
          </a:solidFill>
          <a:ln/>
        </p:spPr>
      </p:sp>
      <p:sp>
        <p:nvSpPr>
          <p:cNvPr id="75" name="dot 73"/>
          <p:cNvSpPr/>
          <p:nvPr/>
        </p:nvSpPr>
        <p:spPr>
          <a:xfrm>
            <a:off x="1591056" y="4517136"/>
            <a:ext cx="310896" cy="310896"/>
          </a:xfrm>
          <a:prstGeom prst="ellipse">
            <a:avLst/>
          </a:prstGeom>
          <a:solidFill>
            <a:schemeClr val="accent5"/>
          </a:solidFill>
          <a:ln/>
        </p:spPr>
      </p:sp>
      <p:sp>
        <p:nvSpPr>
          <p:cNvPr id="76" name="dot 74"/>
          <p:cNvSpPr/>
          <p:nvPr/>
        </p:nvSpPr>
        <p:spPr>
          <a:xfrm>
            <a:off x="2020824" y="4517136"/>
            <a:ext cx="310896" cy="310896"/>
          </a:xfrm>
          <a:prstGeom prst="ellipse">
            <a:avLst/>
          </a:prstGeom>
          <a:solidFill>
            <a:schemeClr val="accent5"/>
          </a:solidFill>
          <a:ln/>
        </p:spPr>
      </p:sp>
      <p:sp>
        <p:nvSpPr>
          <p:cNvPr id="77" name="dot 75"/>
          <p:cNvSpPr/>
          <p:nvPr/>
        </p:nvSpPr>
        <p:spPr>
          <a:xfrm>
            <a:off x="2450592" y="4517136"/>
            <a:ext cx="310896" cy="310896"/>
          </a:xfrm>
          <a:prstGeom prst="ellipse">
            <a:avLst/>
          </a:prstGeom>
          <a:solidFill>
            <a:schemeClr val="accent5"/>
          </a:solidFill>
          <a:ln/>
        </p:spPr>
      </p:sp>
      <p:sp>
        <p:nvSpPr>
          <p:cNvPr id="78" name="dot 76"/>
          <p:cNvSpPr/>
          <p:nvPr/>
        </p:nvSpPr>
        <p:spPr>
          <a:xfrm>
            <a:off x="2880360" y="4517136"/>
            <a:ext cx="310896" cy="310896"/>
          </a:xfrm>
          <a:prstGeom prst="ellipse">
            <a:avLst/>
          </a:prstGeom>
          <a:solidFill>
            <a:schemeClr val="accent5"/>
          </a:solidFill>
          <a:ln/>
        </p:spPr>
      </p:sp>
      <p:sp>
        <p:nvSpPr>
          <p:cNvPr id="79" name="dot 77"/>
          <p:cNvSpPr/>
          <p:nvPr/>
        </p:nvSpPr>
        <p:spPr>
          <a:xfrm>
            <a:off x="3310128" y="4517136"/>
            <a:ext cx="310896" cy="310896"/>
          </a:xfrm>
          <a:prstGeom prst="ellipse">
            <a:avLst/>
          </a:prstGeom>
          <a:solidFill>
            <a:schemeClr val="accent5"/>
          </a:solidFill>
          <a:ln/>
        </p:spPr>
      </p:sp>
      <p:sp>
        <p:nvSpPr>
          <p:cNvPr id="80" name="dot 78"/>
          <p:cNvSpPr/>
          <p:nvPr/>
        </p:nvSpPr>
        <p:spPr>
          <a:xfrm>
            <a:off x="3739896" y="4517136"/>
            <a:ext cx="310896" cy="310896"/>
          </a:xfrm>
          <a:prstGeom prst="ellipse">
            <a:avLst/>
          </a:prstGeom>
          <a:solidFill>
            <a:schemeClr val="accent5"/>
          </a:solidFill>
          <a:ln/>
        </p:spPr>
      </p:sp>
      <p:sp>
        <p:nvSpPr>
          <p:cNvPr id="81" name="dot 79"/>
          <p:cNvSpPr/>
          <p:nvPr/>
        </p:nvSpPr>
        <p:spPr>
          <a:xfrm>
            <a:off x="4169664" y="4517136"/>
            <a:ext cx="310896" cy="310896"/>
          </a:xfrm>
          <a:prstGeom prst="ellipse">
            <a:avLst/>
          </a:prstGeom>
          <a:solidFill>
            <a:schemeClr val="accent5"/>
          </a:solidFill>
          <a:ln/>
        </p:spPr>
      </p:sp>
      <p:sp>
        <p:nvSpPr>
          <p:cNvPr id="82" name="dot 80"/>
          <p:cNvSpPr/>
          <p:nvPr/>
        </p:nvSpPr>
        <p:spPr>
          <a:xfrm>
            <a:off x="4599432" y="4517136"/>
            <a:ext cx="310896" cy="310896"/>
          </a:xfrm>
          <a:prstGeom prst="ellipse">
            <a:avLst/>
          </a:prstGeom>
          <a:solidFill>
            <a:schemeClr val="accent5"/>
          </a:solidFill>
          <a:ln/>
        </p:spPr>
      </p:sp>
      <p:sp>
        <p:nvSpPr>
          <p:cNvPr id="83" name="dot 81"/>
          <p:cNvSpPr/>
          <p:nvPr/>
        </p:nvSpPr>
        <p:spPr>
          <a:xfrm>
            <a:off x="731520" y="4946904"/>
            <a:ext cx="310896" cy="310896"/>
          </a:xfrm>
          <a:prstGeom prst="ellipse">
            <a:avLst/>
          </a:prstGeom>
          <a:solidFill>
            <a:schemeClr val="accent5"/>
          </a:solidFill>
          <a:ln/>
        </p:spPr>
      </p:sp>
      <p:sp>
        <p:nvSpPr>
          <p:cNvPr id="84" name="dot 82"/>
          <p:cNvSpPr/>
          <p:nvPr/>
        </p:nvSpPr>
        <p:spPr>
          <a:xfrm>
            <a:off x="1161288" y="4946904"/>
            <a:ext cx="310896" cy="310896"/>
          </a:xfrm>
          <a:prstGeom prst="ellipse">
            <a:avLst/>
          </a:prstGeom>
          <a:solidFill>
            <a:schemeClr val="accent5"/>
          </a:solidFill>
          <a:ln/>
        </p:spPr>
      </p:sp>
      <p:sp>
        <p:nvSpPr>
          <p:cNvPr id="85" name="dot 83"/>
          <p:cNvSpPr/>
          <p:nvPr/>
        </p:nvSpPr>
        <p:spPr>
          <a:xfrm>
            <a:off x="1591056" y="4946904"/>
            <a:ext cx="310896" cy="310896"/>
          </a:xfrm>
          <a:prstGeom prst="ellipse">
            <a:avLst/>
          </a:prstGeom>
          <a:solidFill>
            <a:schemeClr val="accent5"/>
          </a:solidFill>
          <a:ln/>
        </p:spPr>
      </p:sp>
      <p:sp>
        <p:nvSpPr>
          <p:cNvPr id="86" name="dot 84"/>
          <p:cNvSpPr/>
          <p:nvPr/>
        </p:nvSpPr>
        <p:spPr>
          <a:xfrm>
            <a:off x="2020824" y="4946904"/>
            <a:ext cx="310896" cy="310896"/>
          </a:xfrm>
          <a:prstGeom prst="ellipse">
            <a:avLst/>
          </a:prstGeom>
          <a:solidFill>
            <a:schemeClr val="accent5"/>
          </a:solidFill>
          <a:ln/>
        </p:spPr>
      </p:sp>
      <p:sp>
        <p:nvSpPr>
          <p:cNvPr id="87" name="dot 85"/>
          <p:cNvSpPr/>
          <p:nvPr/>
        </p:nvSpPr>
        <p:spPr>
          <a:xfrm>
            <a:off x="2450592" y="4946904"/>
            <a:ext cx="310896" cy="310896"/>
          </a:xfrm>
          <a:prstGeom prst="ellipse">
            <a:avLst/>
          </a:prstGeom>
          <a:solidFill>
            <a:schemeClr val="accent5"/>
          </a:solidFill>
          <a:ln/>
        </p:spPr>
      </p:sp>
      <p:sp>
        <p:nvSpPr>
          <p:cNvPr id="88" name="dot 86"/>
          <p:cNvSpPr/>
          <p:nvPr/>
        </p:nvSpPr>
        <p:spPr>
          <a:xfrm>
            <a:off x="2880360" y="4946904"/>
            <a:ext cx="310896" cy="310896"/>
          </a:xfrm>
          <a:prstGeom prst="ellipse">
            <a:avLst/>
          </a:prstGeom>
          <a:solidFill>
            <a:schemeClr val="accent5"/>
          </a:solidFill>
          <a:ln/>
        </p:spPr>
      </p:sp>
      <p:sp>
        <p:nvSpPr>
          <p:cNvPr id="89" name="dot 87"/>
          <p:cNvSpPr/>
          <p:nvPr/>
        </p:nvSpPr>
        <p:spPr>
          <a:xfrm>
            <a:off x="3310128" y="4946904"/>
            <a:ext cx="310896" cy="310896"/>
          </a:xfrm>
          <a:prstGeom prst="ellipse">
            <a:avLst/>
          </a:prstGeom>
          <a:solidFill>
            <a:schemeClr val="accent2"/>
          </a:solidFill>
          <a:ln/>
        </p:spPr>
      </p:sp>
      <p:sp>
        <p:nvSpPr>
          <p:cNvPr id="90" name="dot 88"/>
          <p:cNvSpPr/>
          <p:nvPr/>
        </p:nvSpPr>
        <p:spPr>
          <a:xfrm>
            <a:off x="3739896" y="4946904"/>
            <a:ext cx="310896" cy="310896"/>
          </a:xfrm>
          <a:prstGeom prst="ellipse">
            <a:avLst/>
          </a:prstGeom>
          <a:solidFill>
            <a:schemeClr val="accent2"/>
          </a:solidFill>
          <a:ln/>
        </p:spPr>
      </p:sp>
      <p:sp>
        <p:nvSpPr>
          <p:cNvPr id="91" name="dot 89"/>
          <p:cNvSpPr/>
          <p:nvPr/>
        </p:nvSpPr>
        <p:spPr>
          <a:xfrm>
            <a:off x="4169664" y="4946904"/>
            <a:ext cx="310896" cy="310896"/>
          </a:xfrm>
          <a:prstGeom prst="ellipse">
            <a:avLst/>
          </a:prstGeom>
          <a:solidFill>
            <a:schemeClr val="accent2"/>
          </a:solidFill>
          <a:ln/>
        </p:spPr>
      </p:sp>
      <p:sp>
        <p:nvSpPr>
          <p:cNvPr id="92" name="dot 90"/>
          <p:cNvSpPr/>
          <p:nvPr/>
        </p:nvSpPr>
        <p:spPr>
          <a:xfrm>
            <a:off x="4599432" y="4946904"/>
            <a:ext cx="310896" cy="310896"/>
          </a:xfrm>
          <a:prstGeom prst="ellipse">
            <a:avLst/>
          </a:prstGeom>
          <a:solidFill>
            <a:schemeClr val="accent2"/>
          </a:solidFill>
          <a:ln/>
        </p:spPr>
      </p:sp>
      <p:sp>
        <p:nvSpPr>
          <p:cNvPr id="93" name="dot 91"/>
          <p:cNvSpPr/>
          <p:nvPr/>
        </p:nvSpPr>
        <p:spPr>
          <a:xfrm>
            <a:off x="731520" y="5376672"/>
            <a:ext cx="310896" cy="310896"/>
          </a:xfrm>
          <a:prstGeom prst="ellipse">
            <a:avLst/>
          </a:prstGeom>
          <a:solidFill>
            <a:schemeClr val="accent2"/>
          </a:solidFill>
          <a:ln/>
        </p:spPr>
      </p:sp>
      <p:sp>
        <p:nvSpPr>
          <p:cNvPr id="94" name="dot 92"/>
          <p:cNvSpPr/>
          <p:nvPr/>
        </p:nvSpPr>
        <p:spPr>
          <a:xfrm>
            <a:off x="1161288" y="5376672"/>
            <a:ext cx="310896" cy="310896"/>
          </a:xfrm>
          <a:prstGeom prst="ellipse">
            <a:avLst/>
          </a:prstGeom>
          <a:solidFill>
            <a:schemeClr val="accent2"/>
          </a:solidFill>
          <a:ln/>
        </p:spPr>
      </p:sp>
      <p:sp>
        <p:nvSpPr>
          <p:cNvPr id="95" name="dot 93"/>
          <p:cNvSpPr/>
          <p:nvPr/>
        </p:nvSpPr>
        <p:spPr>
          <a:xfrm>
            <a:off x="1591056" y="5376672"/>
            <a:ext cx="310896" cy="310896"/>
          </a:xfrm>
          <a:prstGeom prst="ellipse">
            <a:avLst/>
          </a:prstGeom>
          <a:solidFill>
            <a:schemeClr val="accent2"/>
          </a:solidFill>
          <a:ln/>
        </p:spPr>
      </p:sp>
      <p:sp>
        <p:nvSpPr>
          <p:cNvPr id="96" name="dot 94"/>
          <p:cNvSpPr/>
          <p:nvPr/>
        </p:nvSpPr>
        <p:spPr>
          <a:xfrm>
            <a:off x="2020824" y="5376672"/>
            <a:ext cx="310896" cy="310896"/>
          </a:xfrm>
          <a:prstGeom prst="ellipse">
            <a:avLst/>
          </a:prstGeom>
          <a:solidFill>
            <a:schemeClr val="accent2"/>
          </a:solidFill>
          <a:ln/>
        </p:spPr>
      </p:sp>
      <p:sp>
        <p:nvSpPr>
          <p:cNvPr id="97" name="dot 95"/>
          <p:cNvSpPr/>
          <p:nvPr/>
        </p:nvSpPr>
        <p:spPr>
          <a:xfrm>
            <a:off x="2450592" y="5376672"/>
            <a:ext cx="310896" cy="310896"/>
          </a:xfrm>
          <a:prstGeom prst="ellipse">
            <a:avLst/>
          </a:prstGeom>
          <a:solidFill>
            <a:schemeClr val="accent2"/>
          </a:solidFill>
          <a:ln/>
        </p:spPr>
      </p:sp>
      <p:sp>
        <p:nvSpPr>
          <p:cNvPr id="98" name="dot 96"/>
          <p:cNvSpPr/>
          <p:nvPr/>
        </p:nvSpPr>
        <p:spPr>
          <a:xfrm>
            <a:off x="2880360" y="5376672"/>
            <a:ext cx="310896" cy="310896"/>
          </a:xfrm>
          <a:prstGeom prst="ellipse">
            <a:avLst/>
          </a:prstGeom>
          <a:solidFill>
            <a:schemeClr val="accent2"/>
          </a:solidFill>
          <a:ln/>
        </p:spPr>
      </p:sp>
      <p:sp>
        <p:nvSpPr>
          <p:cNvPr id="99" name="dot 97"/>
          <p:cNvSpPr/>
          <p:nvPr/>
        </p:nvSpPr>
        <p:spPr>
          <a:xfrm>
            <a:off x="3310128" y="5376672"/>
            <a:ext cx="310896" cy="310896"/>
          </a:xfrm>
          <a:prstGeom prst="ellipse">
            <a:avLst/>
          </a:prstGeom>
          <a:solidFill>
            <a:schemeClr val="accent2"/>
          </a:solidFill>
          <a:ln/>
        </p:spPr>
      </p:sp>
      <p:sp>
        <p:nvSpPr>
          <p:cNvPr id="100" name="dot 98"/>
          <p:cNvSpPr/>
          <p:nvPr/>
        </p:nvSpPr>
        <p:spPr>
          <a:xfrm>
            <a:off x="3739896" y="5376672"/>
            <a:ext cx="310896" cy="310896"/>
          </a:xfrm>
          <a:prstGeom prst="ellipse">
            <a:avLst/>
          </a:prstGeom>
          <a:solidFill>
            <a:schemeClr val="accent2"/>
          </a:solidFill>
          <a:ln/>
        </p:spPr>
      </p:sp>
      <p:sp>
        <p:nvSpPr>
          <p:cNvPr id="101" name="dot 99"/>
          <p:cNvSpPr/>
          <p:nvPr/>
        </p:nvSpPr>
        <p:spPr>
          <a:xfrm>
            <a:off x="4169664" y="5376672"/>
            <a:ext cx="310896" cy="310896"/>
          </a:xfrm>
          <a:prstGeom prst="ellipse">
            <a:avLst/>
          </a:prstGeom>
          <a:solidFill>
            <a:schemeClr val="accent2"/>
          </a:solidFill>
          <a:ln/>
        </p:spPr>
      </p:sp>
      <p:sp>
        <p:nvSpPr>
          <p:cNvPr id="102" name="dot 100"/>
          <p:cNvSpPr/>
          <p:nvPr/>
        </p:nvSpPr>
        <p:spPr>
          <a:xfrm>
            <a:off x="4599432" y="5376672"/>
            <a:ext cx="310896" cy="310896"/>
          </a:xfrm>
          <a:prstGeom prst="ellipse">
            <a:avLst/>
          </a:prstGeom>
          <a:solidFill>
            <a:schemeClr val="accent2"/>
          </a:solidFill>
          <a:ln/>
        </p:spPr>
      </p:sp>
      <p:sp>
        <p:nvSpPr>
          <p:cNvPr id="103" name="Text 101"/>
          <p:cNvSpPr txBox="1"/>
          <p:nvPr/>
        </p:nvSpPr>
        <p:spPr>
          <a:xfrm>
            <a:off x="731520" y="5852160"/>
            <a:ext cx="4206240" cy="502920"/>
          </a:xfrm>
          <a:prstGeom prst="rect">
            <a:avLst/>
          </a:prstGeom>
          <a:noFill/>
          <a:ln/>
        </p:spPr>
        <p:txBody>
          <a:bodyPr wrap="square" lIns="0" tIns="0" rIns="0" bIns="0" rtlCol="0" anchor="t"/>
          <a:lstStyle/>
          <a:p>
            <a:pPr indent="0" marL="0">
              <a:buNone/>
            </a:pPr>
            <a:r>
              <a:rPr lang="en-US" sz="1400" b="1" dirty="0">
                <a:solidFill>
                  <a:schemeClr val="accent1"/>
                </a:solidFill>
              </a:rPr>
              <a:t>86 of 100 loans are 0s</a:t>
            </a:r>
            <a:endParaRPr lang="en-US" sz="1400" dirty="0"/>
          </a:p>
          <a:p>
            <a:pPr indent="0" marL="0">
              <a:buNone/>
            </a:pPr>
            <a:r>
              <a:rPr lang="en-US" sz="1400" b="1" dirty="0">
                <a:solidFill>
                  <a:schemeClr val="accent2"/>
                </a:solidFill>
              </a:rPr>
              <a:t>14 of 100 are 1s</a:t>
            </a:r>
            <a:endParaRPr lang="en-US" sz="1400" dirty="0"/>
          </a:p>
        </p:txBody>
      </p:sp>
      <p:sp>
        <p:nvSpPr>
          <p:cNvPr id="104" name="Text 102"/>
          <p:cNvSpPr txBox="1"/>
          <p:nvPr/>
        </p:nvSpPr>
        <p:spPr>
          <a:xfrm>
            <a:off x="5486400" y="1371600"/>
            <a:ext cx="6126480" cy="118872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85.8%</a:t>
            </a:r>
            <a:endParaRPr lang="en-US" sz="7200" dirty="0"/>
          </a:p>
        </p:txBody>
      </p:sp>
      <p:sp>
        <p:nvSpPr>
          <p:cNvPr id="105" name="Text 103"/>
          <p:cNvSpPr txBox="1"/>
          <p:nvPr/>
        </p:nvSpPr>
        <p:spPr>
          <a:xfrm>
            <a:off x="5486400" y="2606040"/>
            <a:ext cx="6126480" cy="411480"/>
          </a:xfrm>
          <a:prstGeom prst="rect">
            <a:avLst/>
          </a:prstGeom>
          <a:noFill/>
          <a:ln/>
        </p:spPr>
        <p:txBody>
          <a:bodyPr wrap="square" lIns="0" tIns="0" rIns="0" bIns="0" rtlCol="0" anchor="t"/>
          <a:lstStyle/>
          <a:p>
            <a:pPr indent="0" marL="0">
              <a:buNone/>
            </a:pPr>
            <a:r>
              <a:rPr lang="en-US" sz="1800" dirty="0">
                <a:solidFill>
                  <a:schemeClr val="accent3"/>
                </a:solidFill>
              </a:rPr>
              <a:t>accuracy from predicting 0 for every single loan</a:t>
            </a:r>
            <a:endParaRPr lang="en-US" sz="1800" dirty="0"/>
          </a:p>
        </p:txBody>
      </p:sp>
      <p:sp>
        <p:nvSpPr>
          <p:cNvPr id="106" name="Text 104"/>
          <p:cNvSpPr txBox="1"/>
          <p:nvPr/>
        </p:nvSpPr>
        <p:spPr>
          <a:xfrm>
            <a:off x="5486400" y="3291840"/>
            <a:ext cx="6126480" cy="25603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That “model” learns nothing and catches zero risky loans.</a:t>
            </a:r>
            <a:endParaRPr lang="en-US" sz="1800" dirty="0"/>
          </a:p>
          <a:p>
            <a:pPr marL="342900" indent="-342900">
              <a:spcAft>
                <a:spcPts val="1200"/>
              </a:spcAft>
              <a:buSzPct val="100000"/>
              <a:buChar char="•"/>
            </a:pPr>
            <a:r>
              <a:rPr lang="en-US" sz="1800" dirty="0">
                <a:solidFill>
                  <a:schemeClr val="tx1"/>
                </a:solidFill>
              </a:rPr>
              <a:t>When one answer is much more common, it's called class imbalance. Fraud, churn and defaults all look like this.</a:t>
            </a:r>
            <a:endParaRPr lang="en-US" sz="1800" dirty="0"/>
          </a:p>
          <a:p>
            <a:pPr marL="342900" indent="-342900">
              <a:spcAft>
                <a:spcPts val="1200"/>
              </a:spcAft>
              <a:buSzPct val="100000"/>
              <a:buChar char="•"/>
            </a:pPr>
            <a:r>
              <a:rPr lang="en-US" sz="1800" b="1" dirty="0">
                <a:solidFill>
                  <a:schemeClr val="tx2"/>
                </a:solidFill>
              </a:rPr>
              <a:t>86% is the floor, not a good score. Your model has to beat it.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2 · Beat the floor with simple rules</a:t>
            </a:r>
            <a:endParaRPr lang="en-US" sz="3600" dirty="0"/>
          </a:p>
        </p:txBody>
      </p:sp>
      <p:graphicFrame>
        <p:nvGraphicFramePr>
          <p:cNvPr id="3" name="rule baselines chart" descr=""/>
          <p:cNvGraphicFramePr/>
          <p:nvPr/>
        </p:nvGraphicFramePr>
        <p:xfrm>
          <a:off x="548640" y="137160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4" name="rule code bg"/>
          <p:cNvSpPr/>
          <p:nvPr/>
        </p:nvSpPr>
        <p:spPr>
          <a:xfrm>
            <a:off x="548640" y="5257800"/>
            <a:ext cx="6949440" cy="914400"/>
          </a:xfrm>
          <a:prstGeom prst="roundRect">
            <a:avLst>
              <a:gd name="adj" fmla="val 10000"/>
            </a:avLst>
          </a:prstGeom>
          <a:solidFill>
            <a:schemeClr val="tx2"/>
          </a:solidFill>
          <a:ln/>
        </p:spPr>
      </p:sp>
      <p:sp>
        <p:nvSpPr>
          <p:cNvPr id="5" name="rule code"/>
          <p:cNvSpPr txBox="1"/>
          <p:nvPr/>
        </p:nvSpPr>
        <p:spPr>
          <a:xfrm>
            <a:off x="777240" y="5440680"/>
            <a:ext cx="6492240" cy="54864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rule = train["loan_grade"].isin(["D", "E", "F", "G"]).astype(int)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accuracy_score(train["loan_status"], rule)</a:t>
            </a:r>
            <a:endParaRPr lang="en-US" sz="1300" dirty="0"/>
          </a:p>
        </p:txBody>
      </p:sp>
      <p:sp>
        <p:nvSpPr>
          <p:cNvPr id="6" name="baseline circle"/>
          <p:cNvSpPr/>
          <p:nvPr/>
        </p:nvSpPr>
        <p:spPr>
          <a:xfrm>
            <a:off x="8046720" y="1463040"/>
            <a:ext cx="731520" cy="731520"/>
          </a:xfrm>
          <a:prstGeom prst="ellipse">
            <a:avLst/>
          </a:prstGeom>
          <a:solidFill>
            <a:schemeClr val="accent1"/>
          </a:solidFill>
          <a:ln/>
        </p:spPr>
      </p:sp>
      <p:pic>
        <p:nvPicPr>
          <p:cNvPr id="7" name="baseline icon" descr="preencoded.png">    </p:cNvPr>
          <p:cNvPicPr>
            <a:picLocks noChangeAspect="1"/>
          </p:cNvPicPr>
          <p:nvPr/>
        </p:nvPicPr>
        <p:blipFill>
          <a:blip r:embed="rId2"/>
          <a:stretch>
            <a:fillRect/>
          </a:stretch>
        </p:blipFill>
        <p:spPr>
          <a:xfrm>
            <a:off x="8229600" y="1645920"/>
            <a:ext cx="365760" cy="365760"/>
          </a:xfrm>
          <a:prstGeom prst="rect">
            <a:avLst/>
          </a:prstGeom>
        </p:spPr>
      </p:pic>
      <p:sp>
        <p:nvSpPr>
          <p:cNvPr id="8" name="Text 4"/>
          <p:cNvSpPr txBox="1"/>
          <p:nvPr/>
        </p:nvSpPr>
        <p:spPr>
          <a:xfrm>
            <a:off x="8961120" y="1463040"/>
            <a:ext cx="2651760" cy="731520"/>
          </a:xfrm>
          <a:prstGeom prst="rect">
            <a:avLst/>
          </a:prstGeom>
          <a:noFill/>
          <a:ln/>
        </p:spPr>
        <p:txBody>
          <a:bodyPr wrap="square" lIns="0" tIns="0" rIns="0" bIns="0" rtlCol="0" anchor="ctr"/>
          <a:lstStyle/>
          <a:p>
            <a:pPr indent="0" marL="0">
              <a:buNone/>
            </a:pPr>
            <a:r>
              <a:rPr lang="en-US" sz="2000" b="1" dirty="0">
                <a:solidFill>
                  <a:schemeClr val="tx2"/>
                </a:solidFill>
              </a:rPr>
              <a:t>Submit the grade rule first</a:t>
            </a:r>
            <a:endParaRPr lang="en-US" sz="2000" dirty="0"/>
          </a:p>
        </p:txBody>
      </p:sp>
      <p:sp>
        <p:nvSpPr>
          <p:cNvPr id="9" name="Text 5"/>
          <p:cNvSpPr txBox="1"/>
          <p:nvPr/>
        </p:nvSpPr>
        <p:spPr>
          <a:xfrm>
            <a:off x="8046720" y="2377440"/>
            <a:ext cx="3566160" cy="731520"/>
          </a:xfrm>
          <a:prstGeom prst="rect">
            <a:avLst/>
          </a:prstGeom>
          <a:noFill/>
          <a:ln/>
        </p:spPr>
        <p:txBody>
          <a:bodyPr wrap="square" lIns="0" tIns="0" rIns="0" bIns="0" rtlCol="0" anchor="t"/>
          <a:lstStyle/>
          <a:p>
            <a:pPr indent="0" marL="0">
              <a:buNone/>
            </a:pPr>
            <a:r>
              <a:rPr lang="en-US" sz="1600" dirty="0">
                <a:solidFill>
                  <a:schemeClr val="tx1"/>
                </a:solidFill>
              </a:rPr>
              <a:t>That's your baseline: the score your model needs to beat.</a:t>
            </a:r>
            <a:endParaRPr lang="en-US" sz="1600" dirty="0"/>
          </a:p>
        </p:txBody>
      </p:sp>
      <p:sp>
        <p:nvSpPr>
          <p:cNvPr id="10" name="combine circle"/>
          <p:cNvSpPr/>
          <p:nvPr/>
        </p:nvSpPr>
        <p:spPr>
          <a:xfrm>
            <a:off x="8046720" y="3429000"/>
            <a:ext cx="731520" cy="731520"/>
          </a:xfrm>
          <a:prstGeom prst="ellipse">
            <a:avLst/>
          </a:prstGeom>
          <a:solidFill>
            <a:schemeClr val="accent2"/>
          </a:solidFill>
          <a:ln/>
        </p:spPr>
      </p:sp>
      <p:pic>
        <p:nvPicPr>
          <p:cNvPr id="11" name="combine icon" descr="preencoded.png">    </p:cNvPr>
          <p:cNvPicPr>
            <a:picLocks noChangeAspect="1"/>
          </p:cNvPicPr>
          <p:nvPr/>
        </p:nvPicPr>
        <p:blipFill>
          <a:blip r:embed="rId3"/>
          <a:stretch>
            <a:fillRect/>
          </a:stretch>
        </p:blipFill>
        <p:spPr>
          <a:xfrm>
            <a:off x="8229600" y="3611880"/>
            <a:ext cx="365760" cy="365760"/>
          </a:xfrm>
          <a:prstGeom prst="rect">
            <a:avLst/>
          </a:prstGeom>
        </p:spPr>
      </p:pic>
      <p:sp>
        <p:nvSpPr>
          <p:cNvPr id="12" name="Text 7"/>
          <p:cNvSpPr txBox="1"/>
          <p:nvPr/>
        </p:nvSpPr>
        <p:spPr>
          <a:xfrm>
            <a:off x="8961120" y="3429000"/>
            <a:ext cx="2651760" cy="731520"/>
          </a:xfrm>
          <a:prstGeom prst="rect">
            <a:avLst/>
          </a:prstGeom>
          <a:noFill/>
          <a:ln/>
        </p:spPr>
        <p:txBody>
          <a:bodyPr wrap="square" lIns="0" tIns="0" rIns="0" bIns="0" rtlCol="0" anchor="ctr"/>
          <a:lstStyle/>
          <a:p>
            <a:pPr indent="0" marL="0">
              <a:buNone/>
            </a:pPr>
            <a:r>
              <a:rPr lang="en-US" sz="2000" b="1" dirty="0">
                <a:solidFill>
                  <a:schemeClr val="tx2"/>
                </a:solidFill>
              </a:rPr>
              <a:t>Then combine two rules</a:t>
            </a:r>
            <a:endParaRPr lang="en-US" sz="2000" dirty="0"/>
          </a:p>
        </p:txBody>
      </p:sp>
      <p:sp>
        <p:nvSpPr>
          <p:cNvPr id="13" name="Text 8"/>
          <p:cNvSpPr txBox="1"/>
          <p:nvPr/>
        </p:nvSpPr>
        <p:spPr>
          <a:xfrm>
            <a:off x="8046720" y="4343400"/>
            <a:ext cx="3566160" cy="1188720"/>
          </a:xfrm>
          <a:prstGeom prst="rect">
            <a:avLst/>
          </a:prstGeom>
          <a:noFill/>
          <a:ln/>
        </p:spPr>
        <p:txBody>
          <a:bodyPr wrap="square" lIns="0" tIns="0" rIns="0" bIns="0" rtlCol="0" anchor="t"/>
          <a:lstStyle/>
          <a:p>
            <a:pPr indent="0" marL="0">
              <a:buNone/>
            </a:pPr>
            <a:r>
              <a:rPr lang="en-US" sz="1600" dirty="0">
                <a:solidFill>
                  <a:schemeClr val="tx1"/>
                </a:solidFill>
              </a:rPr>
              <a:t>Each hand-made rule helps a little. Finding the best combination of dozens of rules is a model's job.</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3 · Models only understand numbers</a:t>
            </a:r>
            <a:endParaRPr lang="en-US" sz="3600" dirty="0"/>
          </a:p>
        </p:txBody>
      </p:sp>
      <p:sp>
        <p:nvSpPr>
          <p:cNvPr id="3" name="prep code bg"/>
          <p:cNvSpPr/>
          <p:nvPr/>
        </p:nvSpPr>
        <p:spPr>
          <a:xfrm>
            <a:off x="548640" y="1417320"/>
            <a:ext cx="6675120" cy="4663440"/>
          </a:xfrm>
          <a:prstGeom prst="roundRect">
            <a:avLst>
              <a:gd name="adj" fmla="val 1961"/>
            </a:avLst>
          </a:prstGeom>
          <a:solidFill>
            <a:schemeClr val="tx2"/>
          </a:solidFill>
          <a:ln/>
        </p:spPr>
      </p:sp>
      <p:sp>
        <p:nvSpPr>
          <p:cNvPr id="4" name="prep code"/>
          <p:cNvSpPr txBox="1"/>
          <p:nvPr/>
        </p:nvSpPr>
        <p:spPr>
          <a:xfrm>
            <a:off x="777240" y="1600200"/>
            <a:ext cx="6217920" cy="42976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grade_map = {"A": 1, "B": 2, "C": 3, "D": 4,</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 5, "F": 6, "G": 7}</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for df in [train, test]: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df["loan_grade"] = df["loan_grade"].map(grade_map)</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df["cb_person_default_on_file"]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df["cb_person_default_on_file"]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.map({"N": 0, "Y": 1}))</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X      = train[features]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y      = train["loan_status"]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X_test = test[features]</a:t>
            </a:r>
            <a:endParaRPr lang="en-US" sz="1400" dirty="0"/>
          </a:p>
        </p:txBody>
      </p:sp>
      <p:sp>
        <p:nvSpPr>
          <p:cNvPr id="5" name="Ordered text → 1, 2, 3… circle"/>
          <p:cNvSpPr/>
          <p:nvPr/>
        </p:nvSpPr>
        <p:spPr>
          <a:xfrm>
            <a:off x="7680960" y="1463040"/>
            <a:ext cx="685800" cy="685800"/>
          </a:xfrm>
          <a:prstGeom prst="ellipse">
            <a:avLst/>
          </a:prstGeom>
          <a:solidFill>
            <a:schemeClr val="accent1"/>
          </a:solidFill>
          <a:ln/>
        </p:spPr>
      </p:sp>
      <p:pic>
        <p:nvPicPr>
          <p:cNvPr id="6" name="Ordered text → 1, 2, 3… icon" descr="preencoded.png">    </p:cNvPr>
          <p:cNvPicPr>
            <a:picLocks noChangeAspect="1"/>
          </p:cNvPicPr>
          <p:nvPr/>
        </p:nvPicPr>
        <p:blipFill>
          <a:blip r:embed="rId1"/>
          <a:stretch>
            <a:fillRect/>
          </a:stretch>
        </p:blipFill>
        <p:spPr>
          <a:xfrm>
            <a:off x="7852410" y="1634490"/>
            <a:ext cx="342900" cy="342900"/>
          </a:xfrm>
          <a:prstGeom prst="rect">
            <a:avLst/>
          </a:prstGeom>
        </p:spPr>
      </p:pic>
      <p:sp>
        <p:nvSpPr>
          <p:cNvPr id="7" name="Text 4"/>
          <p:cNvSpPr txBox="1"/>
          <p:nvPr/>
        </p:nvSpPr>
        <p:spPr>
          <a:xfrm>
            <a:off x="8549640" y="1417320"/>
            <a:ext cx="3063240" cy="1371600"/>
          </a:xfrm>
          <a:prstGeom prst="rect">
            <a:avLst/>
          </a:prstGeom>
          <a:noFill/>
          <a:ln/>
        </p:spPr>
        <p:txBody>
          <a:bodyPr wrap="square" lIns="0" tIns="0" rIns="0" bIns="0" rtlCol="0" anchor="t"/>
          <a:lstStyle/>
          <a:p>
            <a:pPr indent="0" marL="0">
              <a:buNone/>
            </a:pPr>
            <a:r>
              <a:rPr lang="en-US" sz="1600" b="1" dirty="0">
                <a:solidFill>
                  <a:schemeClr val="tx2"/>
                </a:solidFill>
              </a:rPr>
              <a:t>Ordered text → 1, 2, 3…</a:t>
            </a:r>
            <a:endParaRPr lang="en-US" sz="1600" dirty="0"/>
          </a:p>
          <a:p>
            <a:pPr indent="0" marL="0">
              <a:buNone/>
            </a:pPr>
            <a:r>
              <a:rPr lang="en-US" sz="1600" dirty="0">
                <a:solidFill>
                  <a:schemeClr val="tx1"/>
                </a:solidFill>
              </a:rPr>
              <a:t>Grade A is safest and G is riskiest, so the numbers keep that order.</a:t>
            </a:r>
            <a:endParaRPr lang="en-US" sz="1600" dirty="0"/>
          </a:p>
        </p:txBody>
      </p:sp>
      <p:sp>
        <p:nvSpPr>
          <p:cNvPr id="8" name="Yes / No → 1 / 0 circle"/>
          <p:cNvSpPr/>
          <p:nvPr/>
        </p:nvSpPr>
        <p:spPr>
          <a:xfrm>
            <a:off x="7680960" y="3017520"/>
            <a:ext cx="685800" cy="685800"/>
          </a:xfrm>
          <a:prstGeom prst="ellipse">
            <a:avLst/>
          </a:prstGeom>
          <a:solidFill>
            <a:schemeClr val="accent1"/>
          </a:solidFill>
          <a:ln/>
        </p:spPr>
      </p:sp>
      <p:pic>
        <p:nvPicPr>
          <p:cNvPr id="9" name="Yes / No → 1 / 0 icon" descr="preencoded.png">    </p:cNvPr>
          <p:cNvPicPr>
            <a:picLocks noChangeAspect="1"/>
          </p:cNvPicPr>
          <p:nvPr/>
        </p:nvPicPr>
        <p:blipFill>
          <a:blip r:embed="rId2"/>
          <a:stretch>
            <a:fillRect/>
          </a:stretch>
        </p:blipFill>
        <p:spPr>
          <a:xfrm>
            <a:off x="7852410" y="3188970"/>
            <a:ext cx="342900" cy="342900"/>
          </a:xfrm>
          <a:prstGeom prst="rect">
            <a:avLst/>
          </a:prstGeom>
        </p:spPr>
      </p:pic>
      <p:sp>
        <p:nvSpPr>
          <p:cNvPr id="10" name="Text 6"/>
          <p:cNvSpPr txBox="1"/>
          <p:nvPr/>
        </p:nvSpPr>
        <p:spPr>
          <a:xfrm>
            <a:off x="8549640" y="2971800"/>
            <a:ext cx="3063240" cy="1371600"/>
          </a:xfrm>
          <a:prstGeom prst="rect">
            <a:avLst/>
          </a:prstGeom>
          <a:noFill/>
          <a:ln/>
        </p:spPr>
        <p:txBody>
          <a:bodyPr wrap="square" lIns="0" tIns="0" rIns="0" bIns="0" rtlCol="0" anchor="t"/>
          <a:lstStyle/>
          <a:p>
            <a:pPr indent="0" marL="0">
              <a:buNone/>
            </a:pPr>
            <a:r>
              <a:rPr lang="en-US" sz="1600" b="1" dirty="0">
                <a:solidFill>
                  <a:schemeClr val="tx2"/>
                </a:solidFill>
              </a:rPr>
              <a:t>Yes / No → 1 / 0</a:t>
            </a:r>
            <a:endParaRPr lang="en-US" sz="1600" dirty="0"/>
          </a:p>
          <a:p>
            <a:pPr indent="0" marL="0">
              <a:buNone/>
            </a:pPr>
            <a:r>
              <a:rPr lang="en-US" sz="1600" dirty="0">
                <a:solidFill>
                  <a:schemeClr val="tx1"/>
                </a:solidFill>
              </a:rPr>
              <a:t>Past default on file becomes a simple switch.</a:t>
            </a:r>
            <a:endParaRPr lang="en-US" sz="1600" dirty="0"/>
          </a:p>
        </p:txBody>
      </p:sp>
      <p:sp>
        <p:nvSpPr>
          <p:cNvPr id="11" name="Same mapping for both files circle"/>
          <p:cNvSpPr/>
          <p:nvPr/>
        </p:nvSpPr>
        <p:spPr>
          <a:xfrm>
            <a:off x="7680960" y="4572000"/>
            <a:ext cx="685800" cy="685800"/>
          </a:xfrm>
          <a:prstGeom prst="ellipse">
            <a:avLst/>
          </a:prstGeom>
          <a:solidFill>
            <a:schemeClr val="accent4"/>
          </a:solidFill>
          <a:ln/>
        </p:spPr>
      </p:sp>
      <p:pic>
        <p:nvPicPr>
          <p:cNvPr id="12" name="Same mapping for both files icon" descr="preencoded.png">    </p:cNvPr>
          <p:cNvPicPr>
            <a:picLocks noChangeAspect="1"/>
          </p:cNvPicPr>
          <p:nvPr/>
        </p:nvPicPr>
        <p:blipFill>
          <a:blip r:embed="rId3"/>
          <a:stretch>
            <a:fillRect/>
          </a:stretch>
        </p:blipFill>
        <p:spPr>
          <a:xfrm>
            <a:off x="7852410" y="4743450"/>
            <a:ext cx="342900" cy="342900"/>
          </a:xfrm>
          <a:prstGeom prst="rect">
            <a:avLst/>
          </a:prstGeom>
        </p:spPr>
      </p:pic>
      <p:sp>
        <p:nvSpPr>
          <p:cNvPr id="13" name="Text 8"/>
          <p:cNvSpPr txBox="1"/>
          <p:nvPr/>
        </p:nvSpPr>
        <p:spPr>
          <a:xfrm>
            <a:off x="8549640" y="4526280"/>
            <a:ext cx="3063240" cy="1371600"/>
          </a:xfrm>
          <a:prstGeom prst="rect">
            <a:avLst/>
          </a:prstGeom>
          <a:noFill/>
          <a:ln/>
        </p:spPr>
        <p:txBody>
          <a:bodyPr wrap="square" lIns="0" tIns="0" rIns="0" bIns="0" rtlCol="0" anchor="t"/>
          <a:lstStyle/>
          <a:p>
            <a:pPr indent="0" marL="0">
              <a:buNone/>
            </a:pPr>
            <a:r>
              <a:rPr lang="en-US" sz="1600" b="1" dirty="0">
                <a:solidFill>
                  <a:schemeClr val="tx2"/>
                </a:solidFill>
              </a:rPr>
              <a:t>Same mapping for both files</a:t>
            </a:r>
            <a:endParaRPr lang="en-US" sz="1600" dirty="0"/>
          </a:p>
          <a:p>
            <a:pPr indent="0" marL="0">
              <a:buNone/>
            </a:pPr>
            <a:r>
              <a:rPr lang="en-US" sz="1600" dirty="0">
                <a:solidFill>
                  <a:schemeClr val="tx1"/>
                </a:solidFill>
              </a:rPr>
              <a:t>If “B” is 2 in train but 3 in test, predictions quietly turn into nonsense.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4 · A decision tree is a flowchart</a:t>
            </a:r>
            <a:endParaRPr lang="en-US" sz="3600" dirty="0"/>
          </a:p>
        </p:txBody>
      </p:sp>
      <p:sp>
        <p:nvSpPr>
          <p:cNvPr id="3" name="root node"/>
          <p:cNvSpPr/>
          <p:nvPr/>
        </p:nvSpPr>
        <p:spPr>
          <a:xfrm>
            <a:off x="1691640" y="1463040"/>
            <a:ext cx="3566160" cy="731520"/>
          </a:xfrm>
          <a:prstGeom prst="roundRect">
            <a:avLst>
              <a:gd name="adj" fmla="val 12500"/>
            </a:avLst>
          </a:prstGeom>
          <a:solidFill>
            <a:schemeClr val="tx2"/>
          </a:solidFill>
          <a:ln/>
        </p:spPr>
      </p:sp>
      <p:sp>
        <p:nvSpPr>
          <p:cNvPr id="4" name="Text 2"/>
          <p:cNvSpPr txBox="1"/>
          <p:nvPr/>
        </p:nvSpPr>
        <p:spPr>
          <a:xfrm>
            <a:off x="1691640" y="1463040"/>
            <a:ext cx="3566160" cy="73152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Is loan_percent_income &gt; 0.31?</a:t>
            </a:r>
            <a:endParaRPr lang="en-US" sz="1500" dirty="0"/>
          </a:p>
        </p:txBody>
      </p:sp>
      <p:sp>
        <p:nvSpPr>
          <p:cNvPr id="5" name="Shape 3"/>
          <p:cNvSpPr/>
          <p:nvPr/>
        </p:nvSpPr>
        <p:spPr>
          <a:xfrm flipH="1">
            <a:off x="1828800" y="2194560"/>
            <a:ext cx="1645920" cy="822960"/>
          </a:xfrm>
          <a:prstGeom prst="line">
            <a:avLst/>
          </a:prstGeom>
          <a:noFill/>
          <a:ln w="19050">
            <a:solidFill>
              <a:srgbClr val="5B7A73"/>
            </a:solidFill>
            <a:prstDash val="solid"/>
          </a:ln>
        </p:spPr>
      </p:sp>
      <p:sp>
        <p:nvSpPr>
          <p:cNvPr id="6" name="Text 4"/>
          <p:cNvSpPr txBox="1"/>
          <p:nvPr/>
        </p:nvSpPr>
        <p:spPr>
          <a:xfrm>
            <a:off x="2103120" y="2423160"/>
            <a:ext cx="548640" cy="365760"/>
          </a:xfrm>
          <a:prstGeom prst="rect">
            <a:avLst/>
          </a:prstGeom>
          <a:noFill/>
          <a:ln/>
        </p:spPr>
        <p:txBody>
          <a:bodyPr wrap="square" lIns="0" tIns="0" rIns="0" bIns="0" rtlCol="0" anchor="t"/>
          <a:lstStyle/>
          <a:p>
            <a:pPr algn="ctr" indent="0" marL="0">
              <a:buNone/>
            </a:pPr>
            <a:r>
              <a:rPr lang="en-US" sz="1300" b="1" dirty="0">
                <a:solidFill>
                  <a:schemeClr val="accent3"/>
                </a:solidFill>
              </a:rPr>
              <a:t>No</a:t>
            </a:r>
            <a:endParaRPr lang="en-US" sz="1300" dirty="0"/>
          </a:p>
        </p:txBody>
      </p:sp>
      <p:sp>
        <p:nvSpPr>
          <p:cNvPr id="7" name="Shape 5"/>
          <p:cNvSpPr/>
          <p:nvPr/>
        </p:nvSpPr>
        <p:spPr>
          <a:xfrm>
            <a:off x="3474720" y="2194560"/>
            <a:ext cx="1645920" cy="822960"/>
          </a:xfrm>
          <a:prstGeom prst="line">
            <a:avLst/>
          </a:prstGeom>
          <a:noFill/>
          <a:ln w="19050">
            <a:solidFill>
              <a:srgbClr val="5B7A73"/>
            </a:solidFill>
            <a:prstDash val="solid"/>
          </a:ln>
        </p:spPr>
      </p:sp>
      <p:sp>
        <p:nvSpPr>
          <p:cNvPr id="8" name="Text 6"/>
          <p:cNvSpPr txBox="1"/>
          <p:nvPr/>
        </p:nvSpPr>
        <p:spPr>
          <a:xfrm>
            <a:off x="4434840" y="2423160"/>
            <a:ext cx="548640" cy="365760"/>
          </a:xfrm>
          <a:prstGeom prst="rect">
            <a:avLst/>
          </a:prstGeom>
          <a:noFill/>
          <a:ln/>
        </p:spPr>
        <p:txBody>
          <a:bodyPr wrap="square" lIns="0" tIns="0" rIns="0" bIns="0" rtlCol="0" anchor="t"/>
          <a:lstStyle/>
          <a:p>
            <a:pPr algn="ctr" indent="0" marL="0">
              <a:buNone/>
            </a:pPr>
            <a:r>
              <a:rPr lang="en-US" sz="1300" b="1" dirty="0">
                <a:solidFill>
                  <a:schemeClr val="accent3"/>
                </a:solidFill>
              </a:rPr>
              <a:t>Yes</a:t>
            </a:r>
            <a:endParaRPr lang="en-US" sz="1300" dirty="0"/>
          </a:p>
        </p:txBody>
      </p:sp>
      <p:sp>
        <p:nvSpPr>
          <p:cNvPr id="9" name="left node"/>
          <p:cNvSpPr/>
          <p:nvPr/>
        </p:nvSpPr>
        <p:spPr>
          <a:xfrm>
            <a:off x="548640" y="3017520"/>
            <a:ext cx="2743200" cy="731520"/>
          </a:xfrm>
          <a:prstGeom prst="roundRect">
            <a:avLst>
              <a:gd name="adj" fmla="val 12500"/>
            </a:avLst>
          </a:prstGeom>
          <a:solidFill>
            <a:schemeClr val="bg2"/>
          </a:solidFill>
          <a:ln/>
        </p:spPr>
      </p:sp>
      <p:sp>
        <p:nvSpPr>
          <p:cNvPr id="10" name="Text 8"/>
          <p:cNvSpPr txBox="1"/>
          <p:nvPr/>
        </p:nvSpPr>
        <p:spPr>
          <a:xfrm>
            <a:off x="548640" y="3017520"/>
            <a:ext cx="2743200" cy="731520"/>
          </a:xfrm>
          <a:prstGeom prst="rect">
            <a:avLst/>
          </a:prstGeom>
          <a:noFill/>
          <a:ln/>
        </p:spPr>
        <p:txBody>
          <a:bodyPr wrap="square" lIns="50800" tIns="50800" rIns="50800" bIns="50800" rtlCol="0" anchor="ctr"/>
          <a:lstStyle/>
          <a:p>
            <a:pPr algn="ctr" indent="0" marL="0">
              <a:buNone/>
            </a:pPr>
            <a:r>
              <a:rPr lang="en-US" sz="1500" b="1" dirty="0">
                <a:solidFill>
                  <a:schemeClr val="tx2"/>
                </a:solidFill>
              </a:rPr>
              <a:t>Is loan_grade ≥ 4 (D)?</a:t>
            </a:r>
            <a:endParaRPr lang="en-US" sz="1500" dirty="0"/>
          </a:p>
        </p:txBody>
      </p:sp>
      <p:sp>
        <p:nvSpPr>
          <p:cNvPr id="11" name="right node"/>
          <p:cNvSpPr/>
          <p:nvPr/>
        </p:nvSpPr>
        <p:spPr>
          <a:xfrm>
            <a:off x="3749040" y="3017520"/>
            <a:ext cx="2743200" cy="731520"/>
          </a:xfrm>
          <a:prstGeom prst="roundRect">
            <a:avLst>
              <a:gd name="adj" fmla="val 12500"/>
            </a:avLst>
          </a:prstGeom>
          <a:solidFill>
            <a:schemeClr val="bg2"/>
          </a:solidFill>
          <a:ln/>
        </p:spPr>
      </p:sp>
      <p:sp>
        <p:nvSpPr>
          <p:cNvPr id="12" name="Text 10"/>
          <p:cNvSpPr txBox="1"/>
          <p:nvPr/>
        </p:nvSpPr>
        <p:spPr>
          <a:xfrm>
            <a:off x="3749040" y="3017520"/>
            <a:ext cx="2743200" cy="731520"/>
          </a:xfrm>
          <a:prstGeom prst="rect">
            <a:avLst/>
          </a:prstGeom>
          <a:noFill/>
          <a:ln/>
        </p:spPr>
        <p:txBody>
          <a:bodyPr wrap="square" lIns="50800" tIns="50800" rIns="50800" bIns="50800" rtlCol="0" anchor="ctr"/>
          <a:lstStyle/>
          <a:p>
            <a:pPr algn="ctr" indent="0" marL="0">
              <a:buNone/>
            </a:pPr>
            <a:r>
              <a:rPr lang="en-US" sz="1500" b="1" dirty="0">
                <a:solidFill>
                  <a:schemeClr val="tx2"/>
                </a:solidFill>
              </a:rPr>
              <a:t>Is person_income &lt; 39,000?</a:t>
            </a:r>
            <a:endParaRPr lang="en-US" sz="1500" dirty="0"/>
          </a:p>
        </p:txBody>
      </p:sp>
      <p:sp>
        <p:nvSpPr>
          <p:cNvPr id="13" name="Text 11"/>
          <p:cNvSpPr txBox="1"/>
          <p:nvPr/>
        </p:nvSpPr>
        <p:spPr>
          <a:xfrm>
            <a:off x="548640" y="3886200"/>
            <a:ext cx="2743200" cy="365760"/>
          </a:xfrm>
          <a:prstGeom prst="rect">
            <a:avLst/>
          </a:prstGeom>
          <a:noFill/>
          <a:ln/>
        </p:spPr>
        <p:txBody>
          <a:bodyPr wrap="square" lIns="0" tIns="0" rIns="0" bIns="0" rtlCol="0" anchor="t"/>
          <a:lstStyle/>
          <a:p>
            <a:pPr algn="ctr" indent="0" marL="0">
              <a:buNone/>
            </a:pPr>
            <a:r>
              <a:rPr lang="en-US" sz="1400" i="1" dirty="0">
                <a:solidFill>
                  <a:schemeClr val="accent3"/>
                </a:solidFill>
              </a:rPr>
              <a:t>keep asking…</a:t>
            </a:r>
            <a:endParaRPr lang="en-US" sz="1400" dirty="0"/>
          </a:p>
        </p:txBody>
      </p:sp>
      <p:sp>
        <p:nvSpPr>
          <p:cNvPr id="14" name="Text 12"/>
          <p:cNvSpPr txBox="1"/>
          <p:nvPr/>
        </p:nvSpPr>
        <p:spPr>
          <a:xfrm>
            <a:off x="3749040" y="3886200"/>
            <a:ext cx="2743200" cy="365760"/>
          </a:xfrm>
          <a:prstGeom prst="rect">
            <a:avLst/>
          </a:prstGeom>
          <a:noFill/>
          <a:ln/>
        </p:spPr>
        <p:txBody>
          <a:bodyPr wrap="square" lIns="0" tIns="0" rIns="0" bIns="0" rtlCol="0" anchor="t"/>
          <a:lstStyle/>
          <a:p>
            <a:pPr algn="ctr" indent="0" marL="0">
              <a:buNone/>
            </a:pPr>
            <a:r>
              <a:rPr lang="en-US" sz="1400" i="1" dirty="0">
                <a:solidFill>
                  <a:schemeClr val="accent3"/>
                </a:solidFill>
              </a:rPr>
              <a:t>keep asking…</a:t>
            </a:r>
            <a:endParaRPr lang="en-US" sz="1400" dirty="0"/>
          </a:p>
        </p:txBody>
      </p:sp>
      <p:sp>
        <p:nvSpPr>
          <p:cNvPr id="15" name="Text 13"/>
          <p:cNvSpPr txBox="1"/>
          <p:nvPr/>
        </p:nvSpPr>
        <p:spPr>
          <a:xfrm>
            <a:off x="548640" y="4480560"/>
            <a:ext cx="5943600" cy="365760"/>
          </a:xfrm>
          <a:prstGeom prst="rect">
            <a:avLst/>
          </a:prstGeom>
          <a:noFill/>
          <a:ln/>
        </p:spPr>
        <p:txBody>
          <a:bodyPr wrap="square" lIns="0" tIns="0" rIns="0" bIns="0" rtlCol="0" anchor="t"/>
          <a:lstStyle/>
          <a:p>
            <a:pPr indent="0" marL="0">
              <a:buNone/>
            </a:pPr>
            <a:r>
              <a:rPr lang="en-US" sz="1400" dirty="0">
                <a:solidFill>
                  <a:schemeClr val="accent3"/>
                </a:solidFill>
              </a:rPr>
              <a:t>These are the first splits the tree really learns from this data.</a:t>
            </a:r>
            <a:endParaRPr lang="en-US" sz="1400" dirty="0"/>
          </a:p>
        </p:txBody>
      </p:sp>
      <p:sp>
        <p:nvSpPr>
          <p:cNvPr id="16" name="tree code bg"/>
          <p:cNvSpPr/>
          <p:nvPr/>
        </p:nvSpPr>
        <p:spPr>
          <a:xfrm>
            <a:off x="6858000" y="1463040"/>
            <a:ext cx="4754880" cy="1554480"/>
          </a:xfrm>
          <a:prstGeom prst="roundRect">
            <a:avLst>
              <a:gd name="adj" fmla="val 5882"/>
            </a:avLst>
          </a:prstGeom>
          <a:solidFill>
            <a:schemeClr val="tx2"/>
          </a:solidFill>
          <a:ln/>
        </p:spPr>
      </p:sp>
      <p:sp>
        <p:nvSpPr>
          <p:cNvPr id="17" name="tree code"/>
          <p:cNvSpPr txBox="1"/>
          <p:nvPr/>
        </p:nvSpPr>
        <p:spPr>
          <a:xfrm>
            <a:off x="7086600" y="1645920"/>
            <a:ext cx="4297680" cy="11887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model = DecisionTreeClassifier(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max_depth=4, random_state=42)  # create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model.fit(X, y)                    # learn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model.predict(X_test)              # predict</a:t>
            </a:r>
            <a:endParaRPr lang="en-US" sz="1200" dirty="0"/>
          </a:p>
        </p:txBody>
      </p:sp>
      <p:sp>
        <p:nvSpPr>
          <p:cNvPr id="18" name="Text 16"/>
          <p:cNvSpPr txBox="1"/>
          <p:nvPr/>
        </p:nvSpPr>
        <p:spPr>
          <a:xfrm>
            <a:off x="6858000" y="3291840"/>
            <a:ext cx="4754880" cy="2011680"/>
          </a:xfrm>
          <a:prstGeom prst="rect">
            <a:avLst/>
          </a:prstGeom>
          <a:noFill/>
          <a:ln/>
        </p:spPr>
        <p:txBody>
          <a:bodyPr wrap="square" lIns="0" tIns="0" rIns="0" bIns="0" rtlCol="0" anchor="t"/>
          <a:lstStyle/>
          <a:p>
            <a:pPr indent="0" marL="0">
              <a:spcAft>
                <a:spcPts val="1000"/>
              </a:spcAft>
              <a:buNone/>
            </a:pPr>
            <a:r>
              <a:rPr lang="en-US" sz="1600" b="1" dirty="0">
                <a:solidFill>
                  <a:schemeClr val="tx2"/>
                </a:solidFill>
                <a:latin typeface="Courier New" pitchFamily="34" charset="0"/>
                <a:ea typeface="Courier New" pitchFamily="34" charset="-122"/>
                <a:cs typeface="Courier New" pitchFamily="34" charset="-120"/>
              </a:rPr>
              <a:t>max_depth</a:t>
            </a:r>
            <a:pPr indent="0" marL="0">
              <a:spcAft>
                <a:spcPts val="1000"/>
              </a:spcAft>
              <a:buNone/>
            </a:pPr>
            <a:r>
              <a:rPr lang="en-US" sz="1600" dirty="0">
                <a:solidFill>
                  <a:schemeClr val="tx1"/>
                </a:solidFill>
              </a:rPr>
              <a:t>: at most this many questions in a row</a:t>
            </a:r>
            <a:endParaRPr lang="en-US" sz="1600" dirty="0"/>
          </a:p>
          <a:p>
            <a:pPr indent="0" marL="0">
              <a:spcAft>
                <a:spcPts val="1000"/>
              </a:spcAft>
              <a:buNone/>
            </a:pPr>
            <a:r>
              <a:rPr lang="en-US" sz="1600" b="1" dirty="0">
                <a:solidFill>
                  <a:schemeClr val="tx2"/>
                </a:solidFill>
                <a:latin typeface="Courier New" pitchFamily="34" charset="0"/>
                <a:ea typeface="Courier New" pitchFamily="34" charset="-122"/>
                <a:cs typeface="Courier New" pitchFamily="34" charset="-120"/>
              </a:rPr>
              <a:t>random_state</a:t>
            </a:r>
            <a:pPr indent="0" marL="0">
              <a:spcAft>
                <a:spcPts val="1000"/>
              </a:spcAft>
              <a:buNone/>
            </a:pPr>
            <a:r>
              <a:rPr lang="en-US" sz="1600" dirty="0">
                <a:solidFill>
                  <a:schemeClr val="tx1"/>
                </a:solidFill>
              </a:rPr>
              <a:t>: makes your results repeatable</a:t>
            </a:r>
            <a:endParaRPr lang="en-US" sz="1600" dirty="0"/>
          </a:p>
          <a:p>
            <a:pPr indent="0" marL="0">
              <a:spcAft>
                <a:spcPts val="1000"/>
              </a:spcAft>
              <a:buNone/>
            </a:pPr>
            <a:r>
              <a:rPr lang="en-US" sz="1600" dirty="0">
                <a:solidFill>
                  <a:schemeClr val="tx1"/>
                </a:solidFill>
              </a:rPr>
              <a:t>Every scikit-learn model uses this same create → fit → predict pattern.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5 · Check honestly: watch for overfitting</a:t>
            </a:r>
            <a:endParaRPr lang="en-US" sz="3600" dirty="0"/>
          </a:p>
        </p:txBody>
      </p:sp>
      <p:graphicFrame>
        <p:nvGraphicFramePr>
          <p:cNvPr id="3" name="depth sweep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657600" cy="82296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99.99%</a:t>
            </a:r>
            <a:endParaRPr lang="en-US" sz="5400" dirty="0"/>
          </a:p>
        </p:txBody>
      </p:sp>
      <p:sp>
        <p:nvSpPr>
          <p:cNvPr id="5" name="Text 2"/>
          <p:cNvSpPr txBox="1"/>
          <p:nvPr/>
        </p:nvSpPr>
        <p:spPr>
          <a:xfrm>
            <a:off x="7955280" y="2240280"/>
            <a:ext cx="3657600" cy="731520"/>
          </a:xfrm>
          <a:prstGeom prst="rect">
            <a:avLst/>
          </a:prstGeom>
          <a:noFill/>
          <a:ln/>
        </p:spPr>
        <p:txBody>
          <a:bodyPr wrap="square" lIns="0" tIns="0" rIns="0" bIns="0" rtlCol="0" anchor="t"/>
          <a:lstStyle/>
          <a:p>
            <a:pPr indent="0" marL="0">
              <a:buNone/>
            </a:pPr>
            <a:r>
              <a:rPr lang="en-US" sz="1600" dirty="0">
                <a:solidFill>
                  <a:schemeClr val="accent3"/>
                </a:solidFill>
              </a:rPr>
              <a:t>training accuracy of a tree with no depth limit. It memorized the loans.</a:t>
            </a:r>
            <a:endParaRPr lang="en-US" sz="1600" dirty="0"/>
          </a:p>
        </p:txBody>
      </p:sp>
      <p:sp>
        <p:nvSpPr>
          <p:cNvPr id="6" name="Text 3"/>
          <p:cNvSpPr txBox="1"/>
          <p:nvPr/>
        </p:nvSpPr>
        <p:spPr>
          <a:xfrm>
            <a:off x="7955280" y="3246120"/>
            <a:ext cx="365760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Hide 20% of train as a validation set.</a:t>
            </a:r>
            <a:endParaRPr lang="en-US" sz="1600" dirty="0"/>
          </a:p>
          <a:p>
            <a:pPr marL="342900" indent="-342900">
              <a:spcAft>
                <a:spcPts val="1200"/>
              </a:spcAft>
              <a:buSzPct val="100000"/>
              <a:buChar char="•"/>
            </a:pPr>
            <a:r>
              <a:rPr lang="en-US" sz="1600" dirty="0">
                <a:solidFill>
                  <a:schemeClr val="tx1"/>
                </a:solidFill>
              </a:rPr>
              <a:t>Training keeps climbing. Validation peaks near 91.6%, then slips.</a:t>
            </a:r>
            <a:endParaRPr lang="en-US" sz="1600" dirty="0"/>
          </a:p>
          <a:p>
            <a:pPr marL="342900" indent="-342900">
              <a:spcAft>
                <a:spcPts val="1200"/>
              </a:spcAft>
              <a:buSzPct val="100000"/>
              <a:buChar char="•"/>
            </a:pPr>
            <a:r>
              <a:rPr lang="en-US" sz="1600" b="1" dirty="0">
                <a:solidFill>
                  <a:schemeClr val="tx2"/>
                </a:solidFill>
              </a:rPr>
              <a:t>Trust validation. Pick the depth where it's highest.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Improve: better features beat fancier models</a:t>
            </a:r>
            <a:endParaRPr lang="en-US" sz="3600" dirty="0"/>
          </a:p>
        </p:txBody>
      </p:sp>
      <p:graphicFrame>
        <p:nvGraphicFramePr>
          <p:cNvPr id="3" name="improvements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657600" cy="822960"/>
          </a:xfrm>
          <a:prstGeom prst="rect">
            <a:avLst/>
          </a:prstGeom>
          <a:noFill/>
          <a:ln/>
        </p:spPr>
        <p:txBody>
          <a:bodyPr wrap="square" lIns="0" tIns="0" rIns="0" bIns="0" rtlCol="0" anchor="b"/>
          <a:lstStyle/>
          <a:p>
            <a:pPr indent="0" marL="0">
              <a:buNone/>
            </a:pPr>
            <a:r>
              <a:rPr lang="en-US" sz="5400" b="1" dirty="0">
                <a:solidFill>
                  <a:schemeClr val="accent2"/>
                </a:solidFill>
                <a:latin typeface="Cambria" pitchFamily="34" charset="0"/>
                <a:ea typeface="Cambria" pitchFamily="34" charset="-122"/>
                <a:cs typeface="Cambria" pitchFamily="34" charset="-120"/>
              </a:rPr>
              <a:t>+3.5 pts</a:t>
            </a:r>
            <a:endParaRPr lang="en-US" sz="5400" dirty="0"/>
          </a:p>
        </p:txBody>
      </p:sp>
      <p:sp>
        <p:nvSpPr>
          <p:cNvPr id="5" name="Text 2"/>
          <p:cNvSpPr txBox="1"/>
          <p:nvPr/>
        </p:nvSpPr>
        <p:spPr>
          <a:xfrm>
            <a:off x="7955280" y="2240280"/>
            <a:ext cx="3657600" cy="731520"/>
          </a:xfrm>
          <a:prstGeom prst="rect">
            <a:avLst/>
          </a:prstGeom>
          <a:noFill/>
          <a:ln/>
        </p:spPr>
        <p:txBody>
          <a:bodyPr wrap="square" lIns="0" tIns="0" rIns="0" bIns="0" rtlCol="0" anchor="t"/>
          <a:lstStyle/>
          <a:p>
            <a:pPr indent="0" marL="0">
              <a:buNone/>
            </a:pPr>
            <a:r>
              <a:rPr lang="en-US" sz="1600" dirty="0">
                <a:solidFill>
                  <a:schemeClr val="accent3"/>
                </a:solidFill>
              </a:rPr>
              <a:t>from one-hot encoding home ownership and loan intent</a:t>
            </a:r>
            <a:endParaRPr lang="en-US" sz="1600" dirty="0"/>
          </a:p>
        </p:txBody>
      </p:sp>
      <p:sp>
        <p:nvSpPr>
          <p:cNvPr id="6" name="one-hot code bg"/>
          <p:cNvSpPr/>
          <p:nvPr/>
        </p:nvSpPr>
        <p:spPr>
          <a:xfrm>
            <a:off x="7955280" y="3154680"/>
            <a:ext cx="3657600" cy="1234440"/>
          </a:xfrm>
          <a:prstGeom prst="roundRect">
            <a:avLst>
              <a:gd name="adj" fmla="val 7407"/>
            </a:avLst>
          </a:prstGeom>
          <a:solidFill>
            <a:schemeClr val="tx2"/>
          </a:solidFill>
          <a:ln/>
        </p:spPr>
      </p:sp>
      <p:sp>
        <p:nvSpPr>
          <p:cNvPr id="7" name="one-hot code"/>
          <p:cNvSpPr txBox="1"/>
          <p:nvPr/>
        </p:nvSpPr>
        <p:spPr>
          <a:xfrm>
            <a:off x="8183880" y="3337560"/>
            <a:ext cx="3200400" cy="8686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pd.get_dummies(train, columns=[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"person_home_ownership",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"loan_intent"], dtype=int)</a:t>
            </a:r>
            <a:endParaRPr lang="en-US" sz="1200" dirty="0"/>
          </a:p>
        </p:txBody>
      </p:sp>
      <p:sp>
        <p:nvSpPr>
          <p:cNvPr id="8" name="Text 5"/>
          <p:cNvSpPr txBox="1"/>
          <p:nvPr/>
        </p:nvSpPr>
        <p:spPr>
          <a:xfrm>
            <a:off x="7955280" y="4617720"/>
            <a:ext cx="3657600" cy="1463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Change one thing at a time and re-check validation.</a:t>
            </a:r>
            <a:endParaRPr lang="en-US" sz="1600" dirty="0"/>
          </a:p>
          <a:p>
            <a:pPr marL="342900" indent="-342900">
              <a:spcAft>
                <a:spcPts val="1000"/>
              </a:spcAft>
              <a:buSzPct val="100000"/>
              <a:buChar char="•"/>
            </a:pPr>
            <a:r>
              <a:rPr lang="en-US" sz="1600" dirty="0">
                <a:solidFill>
                  <a:schemeClr val="tx1"/>
                </a:solidFill>
              </a:rPr>
              <a:t>An idea that doesn't help still counts. Report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 6 · Predict and submit</a:t>
            </a:r>
            <a:endParaRPr lang="en-US" sz="3600" dirty="0"/>
          </a:p>
        </p:txBody>
      </p:sp>
      <p:sp>
        <p:nvSpPr>
          <p:cNvPr id="3" name="submit step 1"/>
          <p:cNvSpPr/>
          <p:nvPr/>
        </p:nvSpPr>
        <p:spPr>
          <a:xfrm>
            <a:off x="548640" y="1463040"/>
            <a:ext cx="685800" cy="685800"/>
          </a:xfrm>
          <a:prstGeom prst="ellipse">
            <a:avLst/>
          </a:prstGeom>
          <a:solidFill>
            <a:schemeClr val="accent1"/>
          </a:solidFill>
          <a:ln/>
        </p:spPr>
      </p:sp>
      <p:sp>
        <p:nvSpPr>
          <p:cNvPr id="4" name="Text 2"/>
          <p:cNvSpPr txBox="1"/>
          <p:nvPr/>
        </p:nvSpPr>
        <p:spPr>
          <a:xfrm>
            <a:off x="548640" y="1463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463040" y="1417320"/>
            <a:ext cx="5303520" cy="868680"/>
          </a:xfrm>
          <a:prstGeom prst="rect">
            <a:avLst/>
          </a:prstGeom>
          <a:noFill/>
          <a:ln/>
        </p:spPr>
        <p:txBody>
          <a:bodyPr wrap="square" lIns="0" tIns="0" rIns="0" bIns="0" rtlCol="0" anchor="t"/>
          <a:lstStyle/>
          <a:p>
            <a:pPr indent="0" marL="0">
              <a:buNone/>
            </a:pPr>
            <a:r>
              <a:rPr lang="en-US" sz="1800" b="1" dirty="0">
                <a:solidFill>
                  <a:schemeClr val="tx2"/>
                </a:solidFill>
              </a:rPr>
              <a:t>Refit on all training data</a:t>
            </a:r>
            <a:endParaRPr lang="en-US" sz="1600" dirty="0"/>
          </a:p>
          <a:p>
            <a:pPr indent="0" marL="0">
              <a:buNone/>
            </a:pPr>
            <a:r>
              <a:rPr lang="en-US" sz="1400" dirty="0">
                <a:solidFill>
                  <a:schemeClr val="accent3"/>
                </a:solidFill>
                <a:latin typeface="Courier New" pitchFamily="34" charset="0"/>
                <a:ea typeface="Courier New" pitchFamily="34" charset="-122"/>
                <a:cs typeface="Courier New" pitchFamily="34" charset="-120"/>
              </a:rPr>
              <a:t>model.fit(X, y) with your best settings</a:t>
            </a:r>
            <a:endParaRPr lang="en-US" sz="1600" dirty="0"/>
          </a:p>
        </p:txBody>
      </p:sp>
      <p:sp>
        <p:nvSpPr>
          <p:cNvPr id="6" name="submit step 2"/>
          <p:cNvSpPr/>
          <p:nvPr/>
        </p:nvSpPr>
        <p:spPr>
          <a:xfrm>
            <a:off x="548640" y="2606040"/>
            <a:ext cx="685800" cy="685800"/>
          </a:xfrm>
          <a:prstGeom prst="ellipse">
            <a:avLst/>
          </a:prstGeom>
          <a:solidFill>
            <a:schemeClr val="accent1"/>
          </a:solidFill>
          <a:ln/>
        </p:spPr>
      </p:sp>
      <p:sp>
        <p:nvSpPr>
          <p:cNvPr id="7" name="Text 5"/>
          <p:cNvSpPr txBox="1"/>
          <p:nvPr/>
        </p:nvSpPr>
        <p:spPr>
          <a:xfrm>
            <a:off x="548640" y="2606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6"/>
          <p:cNvSpPr txBox="1"/>
          <p:nvPr/>
        </p:nvSpPr>
        <p:spPr>
          <a:xfrm>
            <a:off x="1463040" y="2560320"/>
            <a:ext cx="5303520" cy="868680"/>
          </a:xfrm>
          <a:prstGeom prst="rect">
            <a:avLst/>
          </a:prstGeom>
          <a:noFill/>
          <a:ln/>
        </p:spPr>
        <p:txBody>
          <a:bodyPr wrap="square" lIns="0" tIns="0" rIns="0" bIns="0" rtlCol="0" anchor="t"/>
          <a:lstStyle/>
          <a:p>
            <a:pPr indent="0" marL="0">
              <a:buNone/>
            </a:pPr>
            <a:r>
              <a:rPr lang="en-US" sz="1800" b="1" dirty="0">
                <a:solidFill>
                  <a:schemeClr val="tx2"/>
                </a:solidFill>
              </a:rPr>
              <a:t>Predict 0 or 1 for each test loan</a:t>
            </a:r>
            <a:endParaRPr lang="en-US" sz="1600" dirty="0"/>
          </a:p>
          <a:p>
            <a:pPr indent="0" marL="0">
              <a:buNone/>
            </a:pPr>
            <a:r>
              <a:rPr lang="en-US" sz="1400" dirty="0">
                <a:solidFill>
                  <a:schemeClr val="accent3"/>
                </a:solidFill>
                <a:latin typeface="Courier New" pitchFamily="34" charset="0"/>
                <a:ea typeface="Courier New" pitchFamily="34" charset="-122"/>
                <a:cs typeface="Courier New" pitchFamily="34" charset="-120"/>
              </a:rPr>
              <a:t>predictions = model.predict(X_test)</a:t>
            </a:r>
            <a:endParaRPr lang="en-US" sz="1600" dirty="0"/>
          </a:p>
        </p:txBody>
      </p:sp>
      <p:sp>
        <p:nvSpPr>
          <p:cNvPr id="9" name="submit step 3"/>
          <p:cNvSpPr/>
          <p:nvPr/>
        </p:nvSpPr>
        <p:spPr>
          <a:xfrm>
            <a:off x="548640" y="3749040"/>
            <a:ext cx="685800" cy="685800"/>
          </a:xfrm>
          <a:prstGeom prst="ellipse">
            <a:avLst/>
          </a:prstGeom>
          <a:solidFill>
            <a:schemeClr val="accent1"/>
          </a:solidFill>
          <a:ln/>
        </p:spPr>
      </p:sp>
      <p:sp>
        <p:nvSpPr>
          <p:cNvPr id="10" name="Text 8"/>
          <p:cNvSpPr txBox="1"/>
          <p:nvPr/>
        </p:nvSpPr>
        <p:spPr>
          <a:xfrm>
            <a:off x="548640" y="3749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Text 9"/>
          <p:cNvSpPr txBox="1"/>
          <p:nvPr/>
        </p:nvSpPr>
        <p:spPr>
          <a:xfrm>
            <a:off x="1463040" y="3703320"/>
            <a:ext cx="5303520" cy="868680"/>
          </a:xfrm>
          <a:prstGeom prst="rect">
            <a:avLst/>
          </a:prstGeom>
          <a:noFill/>
          <a:ln/>
        </p:spPr>
        <p:txBody>
          <a:bodyPr wrap="square" lIns="0" tIns="0" rIns="0" bIns="0" rtlCol="0" anchor="t"/>
          <a:lstStyle/>
          <a:p>
            <a:pPr indent="0" marL="0">
              <a:buNone/>
            </a:pPr>
            <a:r>
              <a:rPr lang="en-US" sz="1800" b="1" dirty="0">
                <a:solidFill>
                  <a:schemeClr val="tx2"/>
                </a:solidFill>
              </a:rPr>
              <a:t>Save the file</a:t>
            </a:r>
            <a:endParaRPr lang="en-US" sz="1600" dirty="0"/>
          </a:p>
          <a:p>
            <a:pPr indent="0" marL="0">
              <a:buNone/>
            </a:pPr>
            <a:r>
              <a:rPr lang="en-US" sz="1400" dirty="0">
                <a:solidFill>
                  <a:schemeClr val="accent3"/>
                </a:solidFill>
                <a:latin typeface="Courier New" pitchFamily="34" charset="0"/>
                <a:ea typeface="Courier New" pitchFamily="34" charset="-122"/>
                <a:cs typeface="Courier New" pitchFamily="34" charset="-120"/>
              </a:rPr>
              <a:t>submission.to_csv("submission.csv", index=False)</a:t>
            </a:r>
            <a:endParaRPr lang="en-US" sz="1600" dirty="0"/>
          </a:p>
        </p:txBody>
      </p:sp>
      <p:sp>
        <p:nvSpPr>
          <p:cNvPr id="12" name="submit step 4"/>
          <p:cNvSpPr/>
          <p:nvPr/>
        </p:nvSpPr>
        <p:spPr>
          <a:xfrm>
            <a:off x="548640" y="4892040"/>
            <a:ext cx="685800" cy="685800"/>
          </a:xfrm>
          <a:prstGeom prst="ellipse">
            <a:avLst/>
          </a:prstGeom>
          <a:solidFill>
            <a:schemeClr val="accent1"/>
          </a:solidFill>
          <a:ln/>
        </p:spPr>
      </p:sp>
      <p:sp>
        <p:nvSpPr>
          <p:cNvPr id="13" name="Text 11"/>
          <p:cNvSpPr txBox="1"/>
          <p:nvPr/>
        </p:nvSpPr>
        <p:spPr>
          <a:xfrm>
            <a:off x="548640" y="4892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4" name="Text 12"/>
          <p:cNvSpPr txBox="1"/>
          <p:nvPr/>
        </p:nvSpPr>
        <p:spPr>
          <a:xfrm>
            <a:off x="1463040" y="4846320"/>
            <a:ext cx="5303520" cy="868680"/>
          </a:xfrm>
          <a:prstGeom prst="rect">
            <a:avLst/>
          </a:prstGeom>
          <a:noFill/>
          <a:ln/>
        </p:spPr>
        <p:txBody>
          <a:bodyPr wrap="square" lIns="0" tIns="0" rIns="0" bIns="0" rtlCol="0" anchor="t"/>
          <a:lstStyle/>
          <a:p>
            <a:pPr indent="0" marL="0">
              <a:buNone/>
            </a:pPr>
            <a:r>
              <a:rPr lang="en-US" sz="1800" b="1" dirty="0">
                <a:solidFill>
                  <a:schemeClr val="tx2"/>
                </a:solidFill>
              </a:rPr>
              <a:t>Upload it</a:t>
            </a:r>
            <a:endParaRPr lang="en-US" sz="1600" dirty="0"/>
          </a:p>
          <a:p>
            <a:pPr indent="0" marL="0">
              <a:buNone/>
            </a:pPr>
            <a:r>
              <a:rPr lang="en-US" sz="1400" dirty="0">
                <a:solidFill>
                  <a:schemeClr val="accent3"/>
                </a:solidFill>
                <a:latin typeface="Courier New" pitchFamily="34" charset="0"/>
                <a:ea typeface="Courier New" pitchFamily="34" charset="-122"/>
                <a:cs typeface="Courier New" pitchFamily="34" charset="-120"/>
              </a:rPr>
              <a:t>Save Version → Save &amp; Run All → Output → Submit</a:t>
            </a:r>
            <a:endParaRPr lang="en-US" sz="1600" dirty="0"/>
          </a:p>
        </p:txBody>
      </p:sp>
      <p:sp>
        <p:nvSpPr>
          <p:cNvPr id="15" name="checklist card"/>
          <p:cNvSpPr/>
          <p:nvPr/>
        </p:nvSpPr>
        <p:spPr>
          <a:xfrm>
            <a:off x="7223760" y="1417320"/>
            <a:ext cx="4389120" cy="4480560"/>
          </a:xfrm>
          <a:prstGeom prst="roundRect">
            <a:avLst>
              <a:gd name="adj" fmla="val 2500"/>
            </a:avLst>
          </a:prstGeom>
          <a:solidFill>
            <a:schemeClr val="bg2"/>
          </a:solidFill>
          <a:ln/>
        </p:spPr>
      </p:sp>
      <p:sp>
        <p:nvSpPr>
          <p:cNvPr id="16" name="Text 14"/>
          <p:cNvSpPr txBox="1"/>
          <p:nvPr/>
        </p:nvSpPr>
        <p:spPr>
          <a:xfrm>
            <a:off x="7543800" y="1645920"/>
            <a:ext cx="38404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Before you upload</a:t>
            </a:r>
            <a:endParaRPr lang="en-US" sz="2200" dirty="0"/>
          </a:p>
        </p:txBody>
      </p:sp>
      <p:pic>
        <p:nvPicPr>
          <p:cNvPr id="17" name="check 1" descr="preencoded.png">    </p:cNvPr>
          <p:cNvPicPr>
            <a:picLocks noChangeAspect="1"/>
          </p:cNvPicPr>
          <p:nvPr/>
        </p:nvPicPr>
        <p:blipFill>
          <a:blip r:embed="rId1"/>
          <a:stretch>
            <a:fillRect/>
          </a:stretch>
        </p:blipFill>
        <p:spPr>
          <a:xfrm>
            <a:off x="7543800" y="2377440"/>
            <a:ext cx="320040" cy="320040"/>
          </a:xfrm>
          <a:prstGeom prst="rect">
            <a:avLst/>
          </a:prstGeom>
        </p:spPr>
      </p:pic>
      <p:sp>
        <p:nvSpPr>
          <p:cNvPr id="18" name="Text 15"/>
          <p:cNvSpPr txBox="1"/>
          <p:nvPr/>
        </p:nvSpPr>
        <p:spPr>
          <a:xfrm>
            <a:off x="8046720" y="2331720"/>
            <a:ext cx="3383280" cy="777240"/>
          </a:xfrm>
          <a:prstGeom prst="rect">
            <a:avLst/>
          </a:prstGeom>
          <a:noFill/>
          <a:ln/>
        </p:spPr>
        <p:txBody>
          <a:bodyPr wrap="square" lIns="0" tIns="0" rIns="0" bIns="0" rtlCol="0" anchor="t"/>
          <a:lstStyle/>
          <a:p>
            <a:pPr indent="0" marL="0">
              <a:buNone/>
            </a:pPr>
            <a:r>
              <a:rPr lang="en-US" sz="1500" dirty="0">
                <a:solidFill>
                  <a:schemeClr val="tx1"/>
                </a:solidFill>
              </a:rPr>
              <a:t>Exactly 39,098 rows plus a header</a:t>
            </a:r>
            <a:endParaRPr lang="en-US" sz="1500" dirty="0"/>
          </a:p>
        </p:txBody>
      </p:sp>
      <p:pic>
        <p:nvPicPr>
          <p:cNvPr id="19" name="check 2" descr="preencoded.png">    </p:cNvPr>
          <p:cNvPicPr>
            <a:picLocks noChangeAspect="1"/>
          </p:cNvPicPr>
          <p:nvPr/>
        </p:nvPicPr>
        <p:blipFill>
          <a:blip r:embed="rId2"/>
          <a:stretch>
            <a:fillRect/>
          </a:stretch>
        </p:blipFill>
        <p:spPr>
          <a:xfrm>
            <a:off x="7543800" y="3246120"/>
            <a:ext cx="320040" cy="320040"/>
          </a:xfrm>
          <a:prstGeom prst="rect">
            <a:avLst/>
          </a:prstGeom>
        </p:spPr>
      </p:pic>
      <p:sp>
        <p:nvSpPr>
          <p:cNvPr id="20" name="Text 16"/>
          <p:cNvSpPr txBox="1"/>
          <p:nvPr/>
        </p:nvSpPr>
        <p:spPr>
          <a:xfrm>
            <a:off x="8046720" y="3200400"/>
            <a:ext cx="3383280" cy="777240"/>
          </a:xfrm>
          <a:prstGeom prst="rect">
            <a:avLst/>
          </a:prstGeom>
          <a:noFill/>
          <a:ln/>
        </p:spPr>
        <p:txBody>
          <a:bodyPr wrap="square" lIns="0" tIns="0" rIns="0" bIns="0" rtlCol="0" anchor="t"/>
          <a:lstStyle/>
          <a:p>
            <a:pPr indent="0" marL="0">
              <a:buNone/>
            </a:pPr>
            <a:r>
              <a:rPr lang="en-US" sz="1500" dirty="0">
                <a:solidFill>
                  <a:schemeClr val="tx1"/>
                </a:solidFill>
              </a:rPr>
              <a:t>Exactly two columns: id and loan_status</a:t>
            </a:r>
            <a:endParaRPr lang="en-US" sz="1500" dirty="0"/>
          </a:p>
        </p:txBody>
      </p:sp>
      <p:pic>
        <p:nvPicPr>
          <p:cNvPr id="21" name="check 3" descr="preencoded.png">    </p:cNvPr>
          <p:cNvPicPr>
            <a:picLocks noChangeAspect="1"/>
          </p:cNvPicPr>
          <p:nvPr/>
        </p:nvPicPr>
        <p:blipFill>
          <a:blip r:embed="rId3"/>
          <a:stretch>
            <a:fillRect/>
          </a:stretch>
        </p:blipFill>
        <p:spPr>
          <a:xfrm>
            <a:off x="7543800" y="4114800"/>
            <a:ext cx="320040" cy="320040"/>
          </a:xfrm>
          <a:prstGeom prst="rect">
            <a:avLst/>
          </a:prstGeom>
        </p:spPr>
      </p:pic>
      <p:sp>
        <p:nvSpPr>
          <p:cNvPr id="22" name="Text 17"/>
          <p:cNvSpPr txBox="1"/>
          <p:nvPr/>
        </p:nvSpPr>
        <p:spPr>
          <a:xfrm>
            <a:off x="8046720" y="4069080"/>
            <a:ext cx="3383280" cy="777240"/>
          </a:xfrm>
          <a:prstGeom prst="rect">
            <a:avLst/>
          </a:prstGeom>
          <a:noFill/>
          <a:ln/>
        </p:spPr>
        <p:txBody>
          <a:bodyPr wrap="square" lIns="0" tIns="0" rIns="0" bIns="0" rtlCol="0" anchor="t"/>
          <a:lstStyle/>
          <a:p>
            <a:pPr indent="0" marL="0">
              <a:buNone/>
            </a:pPr>
            <a:r>
              <a:rPr lang="en-US" sz="1500" dirty="0">
                <a:solidFill>
                  <a:schemeClr val="tx1"/>
                </a:solidFill>
              </a:rPr>
              <a:t>Every loan_status is 0 or 1. The 0.5s in sample_submission.csv are placeholders</a:t>
            </a:r>
            <a:endParaRPr lang="en-US" sz="1500" dirty="0"/>
          </a:p>
        </p:txBody>
      </p:sp>
      <p:pic>
        <p:nvPicPr>
          <p:cNvPr id="23" name="check 4" descr="preencoded.png">    </p:cNvPr>
          <p:cNvPicPr>
            <a:picLocks noChangeAspect="1"/>
          </p:cNvPicPr>
          <p:nvPr/>
        </p:nvPicPr>
        <p:blipFill>
          <a:blip r:embed="rId4"/>
          <a:stretch>
            <a:fillRect/>
          </a:stretch>
        </p:blipFill>
        <p:spPr>
          <a:xfrm>
            <a:off x="7543800" y="4983480"/>
            <a:ext cx="320040" cy="320040"/>
          </a:xfrm>
          <a:prstGeom prst="rect">
            <a:avLst/>
          </a:prstGeom>
        </p:spPr>
      </p:pic>
      <p:sp>
        <p:nvSpPr>
          <p:cNvPr id="24" name="Text 18"/>
          <p:cNvSpPr txBox="1"/>
          <p:nvPr/>
        </p:nvSpPr>
        <p:spPr>
          <a:xfrm>
            <a:off x="8046720" y="4937760"/>
            <a:ext cx="3383280" cy="777240"/>
          </a:xfrm>
          <a:prstGeom prst="rect">
            <a:avLst/>
          </a:prstGeom>
          <a:noFill/>
          <a:ln/>
        </p:spPr>
        <p:txBody>
          <a:bodyPr wrap="square" lIns="0" tIns="0" rIns="0" bIns="0" rtlCol="0" anchor="t"/>
          <a:lstStyle/>
          <a:p>
            <a:pPr indent="0" marL="0">
              <a:buNone/>
            </a:pPr>
            <a:r>
              <a:rPr lang="en-US" sz="1500" dirty="0">
                <a:solidFill>
                  <a:schemeClr val="tx1"/>
                </a:solidFill>
              </a:rPr>
              <a:t>About 10–14% of rows are 1s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Common mistakes and quick fixes</a:t>
            </a:r>
            <a:endParaRPr lang="en-US" sz="3600" dirty="0"/>
          </a:p>
        </p:txBody>
      </p:sp>
      <p:sp>
        <p:nvSpPr>
          <p:cNvPr id="3" name="Score is about 0.858 card"/>
          <p:cNvSpPr/>
          <p:nvPr/>
        </p:nvSpPr>
        <p:spPr>
          <a:xfrm>
            <a:off x="548640" y="1417320"/>
            <a:ext cx="3474720" cy="2103120"/>
          </a:xfrm>
          <a:prstGeom prst="roundRect">
            <a:avLst>
              <a:gd name="adj" fmla="val 5217"/>
            </a:avLst>
          </a:prstGeom>
          <a:solidFill>
            <a:schemeClr val="bg2"/>
          </a:solidFill>
          <a:ln/>
        </p:spPr>
      </p:sp>
      <p:sp>
        <p:nvSpPr>
          <p:cNvPr id="4" name="error 1 circle"/>
          <p:cNvSpPr/>
          <p:nvPr/>
        </p:nvSpPr>
        <p:spPr>
          <a:xfrm>
            <a:off x="822960" y="1691640"/>
            <a:ext cx="548640" cy="548640"/>
          </a:xfrm>
          <a:prstGeom prst="ellipse">
            <a:avLst/>
          </a:prstGeom>
          <a:solidFill>
            <a:schemeClr val="accent4"/>
          </a:solidFill>
          <a:ln/>
        </p:spPr>
      </p:sp>
      <p:pic>
        <p:nvPicPr>
          <p:cNvPr id="5" name="error 1 icon" descr="preencoded.png">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508760" y="1645920"/>
            <a:ext cx="2331720" cy="685800"/>
          </a:xfrm>
          <a:prstGeom prst="rect">
            <a:avLst/>
          </a:prstGeom>
          <a:noFill/>
          <a:ln/>
        </p:spPr>
        <p:txBody>
          <a:bodyPr wrap="square" lIns="0" tIns="0" rIns="0" bIns="0" rtlCol="0" anchor="ctr"/>
          <a:lstStyle/>
          <a:p>
            <a:pPr indent="0" marL="0">
              <a:buNone/>
            </a:pPr>
            <a:r>
              <a:rPr lang="en-US" sz="1500" b="1" dirty="0">
                <a:solidFill>
                  <a:schemeClr val="tx2"/>
                </a:solidFill>
              </a:rPr>
              <a:t>Score is about 0.858</a:t>
            </a:r>
            <a:endParaRPr lang="en-US" sz="1500" dirty="0"/>
          </a:p>
        </p:txBody>
      </p:sp>
      <p:sp>
        <p:nvSpPr>
          <p:cNvPr id="7" name="Text 4"/>
          <p:cNvSpPr txBox="1"/>
          <p:nvPr/>
        </p:nvSpPr>
        <p:spPr>
          <a:xfrm>
            <a:off x="822960" y="2468880"/>
            <a:ext cx="2971800" cy="914400"/>
          </a:xfrm>
          <a:prstGeom prst="rect">
            <a:avLst/>
          </a:prstGeom>
          <a:noFill/>
          <a:ln/>
        </p:spPr>
        <p:txBody>
          <a:bodyPr wrap="square" lIns="0" tIns="0" rIns="0" bIns="0" rtlCol="0" anchor="t"/>
          <a:lstStyle/>
          <a:p>
            <a:pPr indent="0" marL="0">
              <a:buNone/>
            </a:pPr>
            <a:r>
              <a:rPr lang="en-US" sz="1500" dirty="0">
                <a:solidFill>
                  <a:schemeClr val="tx1"/>
                </a:solidFill>
              </a:rPr>
              <a:t>Your model predicts 0 for nearly every loan. Check value_counts().</a:t>
            </a:r>
            <a:endParaRPr lang="en-US" sz="1500" dirty="0"/>
          </a:p>
        </p:txBody>
      </p:sp>
      <p:sp>
        <p:nvSpPr>
          <p:cNvPr id="8" name="Decimals like 0.37 in your file card"/>
          <p:cNvSpPr/>
          <p:nvPr/>
        </p:nvSpPr>
        <p:spPr>
          <a:xfrm>
            <a:off x="4297680" y="1417320"/>
            <a:ext cx="3474720" cy="2103120"/>
          </a:xfrm>
          <a:prstGeom prst="roundRect">
            <a:avLst>
              <a:gd name="adj" fmla="val 5217"/>
            </a:avLst>
          </a:prstGeom>
          <a:solidFill>
            <a:schemeClr val="bg2"/>
          </a:solidFill>
          <a:ln/>
        </p:spPr>
      </p:sp>
      <p:sp>
        <p:nvSpPr>
          <p:cNvPr id="9" name="error 2 circle"/>
          <p:cNvSpPr/>
          <p:nvPr/>
        </p:nvSpPr>
        <p:spPr>
          <a:xfrm>
            <a:off x="4572000" y="1691640"/>
            <a:ext cx="548640" cy="548640"/>
          </a:xfrm>
          <a:prstGeom prst="ellipse">
            <a:avLst/>
          </a:prstGeom>
          <a:solidFill>
            <a:schemeClr val="accent4"/>
          </a:solidFill>
          <a:ln/>
        </p:spPr>
      </p:sp>
      <p:pic>
        <p:nvPicPr>
          <p:cNvPr id="10" name="error 2 icon" descr="preencoded.png">    </p:cNvPr>
          <p:cNvPicPr>
            <a:picLocks noChangeAspect="1"/>
          </p:cNvPicPr>
          <p:nvPr/>
        </p:nvPicPr>
        <p:blipFill>
          <a:blip r:embed="rId2"/>
          <a:stretch>
            <a:fillRect/>
          </a:stretch>
        </p:blipFill>
        <p:spPr>
          <a:xfrm>
            <a:off x="4709160" y="1828800"/>
            <a:ext cx="274320" cy="274320"/>
          </a:xfrm>
          <a:prstGeom prst="rect">
            <a:avLst/>
          </a:prstGeom>
        </p:spPr>
      </p:pic>
      <p:sp>
        <p:nvSpPr>
          <p:cNvPr id="11" name="Text 7"/>
          <p:cNvSpPr txBox="1"/>
          <p:nvPr/>
        </p:nvSpPr>
        <p:spPr>
          <a:xfrm>
            <a:off x="5257800" y="1645920"/>
            <a:ext cx="2331720" cy="685800"/>
          </a:xfrm>
          <a:prstGeom prst="rect">
            <a:avLst/>
          </a:prstGeom>
          <a:noFill/>
          <a:ln/>
        </p:spPr>
        <p:txBody>
          <a:bodyPr wrap="square" lIns="0" tIns="0" rIns="0" bIns="0" rtlCol="0" anchor="ctr"/>
          <a:lstStyle/>
          <a:p>
            <a:pPr indent="0" marL="0">
              <a:buNone/>
            </a:pPr>
            <a:r>
              <a:rPr lang="en-US" sz="1500" b="1" dirty="0">
                <a:solidFill>
                  <a:schemeClr val="tx2"/>
                </a:solidFill>
              </a:rPr>
              <a:t>Decimals like 0.37 in your file</a:t>
            </a:r>
            <a:endParaRPr lang="en-US" sz="1500" dirty="0"/>
          </a:p>
        </p:txBody>
      </p:sp>
      <p:sp>
        <p:nvSpPr>
          <p:cNvPr id="12" name="Text 8"/>
          <p:cNvSpPr txBox="1"/>
          <p:nvPr/>
        </p:nvSpPr>
        <p:spPr>
          <a:xfrm>
            <a:off x="4572000" y="2468880"/>
            <a:ext cx="2971800" cy="914400"/>
          </a:xfrm>
          <a:prstGeom prst="rect">
            <a:avLst/>
          </a:prstGeom>
          <a:noFill/>
          <a:ln/>
        </p:spPr>
        <p:txBody>
          <a:bodyPr wrap="square" lIns="0" tIns="0" rIns="0" bIns="0" rtlCol="0" anchor="t"/>
          <a:lstStyle/>
          <a:p>
            <a:pPr indent="0" marL="0">
              <a:buNone/>
            </a:pPr>
            <a:r>
              <a:rPr lang="en-US" sz="1500" dirty="0">
                <a:solidFill>
                  <a:schemeClr val="tx1"/>
                </a:solidFill>
              </a:rPr>
              <a:t>Use model.predict(), not predict_proba().</a:t>
            </a:r>
            <a:endParaRPr lang="en-US" sz="1500" dirty="0"/>
          </a:p>
        </p:txBody>
      </p:sp>
      <p:sp>
        <p:nvSpPr>
          <p:cNvPr id="13" name="could not convert string to float: 'B' card"/>
          <p:cNvSpPr/>
          <p:nvPr/>
        </p:nvSpPr>
        <p:spPr>
          <a:xfrm>
            <a:off x="8046720" y="1417320"/>
            <a:ext cx="3474720" cy="2103120"/>
          </a:xfrm>
          <a:prstGeom prst="roundRect">
            <a:avLst>
              <a:gd name="adj" fmla="val 5217"/>
            </a:avLst>
          </a:prstGeom>
          <a:solidFill>
            <a:schemeClr val="bg2"/>
          </a:solidFill>
          <a:ln/>
        </p:spPr>
      </p:sp>
      <p:sp>
        <p:nvSpPr>
          <p:cNvPr id="14" name="error 3 circle"/>
          <p:cNvSpPr/>
          <p:nvPr/>
        </p:nvSpPr>
        <p:spPr>
          <a:xfrm>
            <a:off x="8321040" y="1691640"/>
            <a:ext cx="548640" cy="548640"/>
          </a:xfrm>
          <a:prstGeom prst="ellipse">
            <a:avLst/>
          </a:prstGeom>
          <a:solidFill>
            <a:schemeClr val="accent4"/>
          </a:solidFill>
          <a:ln/>
        </p:spPr>
      </p:sp>
      <p:pic>
        <p:nvPicPr>
          <p:cNvPr id="15" name="error 3 icon" descr="preencoded.png">    </p:cNvPr>
          <p:cNvPicPr>
            <a:picLocks noChangeAspect="1"/>
          </p:cNvPicPr>
          <p:nvPr/>
        </p:nvPicPr>
        <p:blipFill>
          <a:blip r:embed="rId3"/>
          <a:stretch>
            <a:fillRect/>
          </a:stretch>
        </p:blipFill>
        <p:spPr>
          <a:xfrm>
            <a:off x="8458200" y="1828800"/>
            <a:ext cx="274320" cy="274320"/>
          </a:xfrm>
          <a:prstGeom prst="rect">
            <a:avLst/>
          </a:prstGeom>
        </p:spPr>
      </p:pic>
      <p:sp>
        <p:nvSpPr>
          <p:cNvPr id="16" name="Text 11"/>
          <p:cNvSpPr txBox="1"/>
          <p:nvPr/>
        </p:nvSpPr>
        <p:spPr>
          <a:xfrm>
            <a:off x="9006840" y="1645920"/>
            <a:ext cx="2331720" cy="6858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could not convert string to float: 'B'</a:t>
            </a:r>
            <a:endParaRPr lang="en-US" sz="1500" dirty="0"/>
          </a:p>
        </p:txBody>
      </p:sp>
      <p:sp>
        <p:nvSpPr>
          <p:cNvPr id="17" name="Text 12"/>
          <p:cNvSpPr txBox="1"/>
          <p:nvPr/>
        </p:nvSpPr>
        <p:spPr>
          <a:xfrm>
            <a:off x="8321040" y="2468880"/>
            <a:ext cx="2971800" cy="914400"/>
          </a:xfrm>
          <a:prstGeom prst="rect">
            <a:avLst/>
          </a:prstGeom>
          <a:noFill/>
          <a:ln/>
        </p:spPr>
        <p:txBody>
          <a:bodyPr wrap="square" lIns="0" tIns="0" rIns="0" bIns="0" rtlCol="0" anchor="t"/>
          <a:lstStyle/>
          <a:p>
            <a:pPr indent="0" marL="0">
              <a:buNone/>
            </a:pPr>
            <a:r>
              <a:rPr lang="en-US" sz="1500" dirty="0">
                <a:solidFill>
                  <a:schemeClr val="tx1"/>
                </a:solidFill>
              </a:rPr>
              <a:t>A text column wasn't mapped to numbers.</a:t>
            </a:r>
            <a:endParaRPr lang="en-US" sz="1500" dirty="0"/>
          </a:p>
        </p:txBody>
      </p:sp>
      <p:sp>
        <p:nvSpPr>
          <p:cNvPr id="18" name="Input X contains NaN card"/>
          <p:cNvSpPr/>
          <p:nvPr/>
        </p:nvSpPr>
        <p:spPr>
          <a:xfrm>
            <a:off x="548640" y="3794760"/>
            <a:ext cx="3474720" cy="2103120"/>
          </a:xfrm>
          <a:prstGeom prst="roundRect">
            <a:avLst>
              <a:gd name="adj" fmla="val 5217"/>
            </a:avLst>
          </a:prstGeom>
          <a:solidFill>
            <a:schemeClr val="bg2"/>
          </a:solidFill>
          <a:ln/>
        </p:spPr>
      </p:sp>
      <p:sp>
        <p:nvSpPr>
          <p:cNvPr id="19" name="error 4 circle"/>
          <p:cNvSpPr/>
          <p:nvPr/>
        </p:nvSpPr>
        <p:spPr>
          <a:xfrm>
            <a:off x="822960" y="4069080"/>
            <a:ext cx="548640" cy="548640"/>
          </a:xfrm>
          <a:prstGeom prst="ellipse">
            <a:avLst/>
          </a:prstGeom>
          <a:solidFill>
            <a:schemeClr val="accent4"/>
          </a:solidFill>
          <a:ln/>
        </p:spPr>
      </p:sp>
      <p:pic>
        <p:nvPicPr>
          <p:cNvPr id="20" name="error 4 icon" descr="preencoded.png">    </p:cNvPr>
          <p:cNvPicPr>
            <a:picLocks noChangeAspect="1"/>
          </p:cNvPicPr>
          <p:nvPr/>
        </p:nvPicPr>
        <p:blipFill>
          <a:blip r:embed="rId4"/>
          <a:stretch>
            <a:fillRect/>
          </a:stretch>
        </p:blipFill>
        <p:spPr>
          <a:xfrm>
            <a:off x="960120" y="4206240"/>
            <a:ext cx="274320" cy="274320"/>
          </a:xfrm>
          <a:prstGeom prst="rect">
            <a:avLst/>
          </a:prstGeom>
        </p:spPr>
      </p:pic>
      <p:sp>
        <p:nvSpPr>
          <p:cNvPr id="21" name="Text 15"/>
          <p:cNvSpPr txBox="1"/>
          <p:nvPr/>
        </p:nvSpPr>
        <p:spPr>
          <a:xfrm>
            <a:off x="1508760" y="4023360"/>
            <a:ext cx="2331720" cy="6858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Input X contains NaN</a:t>
            </a:r>
            <a:endParaRPr lang="en-US" sz="1500" dirty="0"/>
          </a:p>
        </p:txBody>
      </p:sp>
      <p:sp>
        <p:nvSpPr>
          <p:cNvPr id="22" name="Text 16"/>
          <p:cNvSpPr txBox="1"/>
          <p:nvPr/>
        </p:nvSpPr>
        <p:spPr>
          <a:xfrm>
            <a:off x="822960" y="4846320"/>
            <a:ext cx="2971800" cy="914400"/>
          </a:xfrm>
          <a:prstGeom prst="rect">
            <a:avLst/>
          </a:prstGeom>
          <a:noFill/>
          <a:ln/>
        </p:spPr>
        <p:txBody>
          <a:bodyPr wrap="square" lIns="0" tIns="0" rIns="0" bIns="0" rtlCol="0" anchor="t"/>
          <a:lstStyle/>
          <a:p>
            <a:pPr indent="0" marL="0">
              <a:buNone/>
            </a:pPr>
            <a:r>
              <a:rPr lang="en-US" sz="1500" dirty="0">
                <a:solidFill>
                  <a:schemeClr val="tx1"/>
                </a:solidFill>
              </a:rPr>
              <a:t>Your .map() dictionary missed a category.</a:t>
            </a:r>
            <a:endParaRPr lang="en-US" sz="1500" dirty="0"/>
          </a:p>
        </p:txBody>
      </p:sp>
      <p:sp>
        <p:nvSpPr>
          <p:cNvPr id="23" name="Wrong number of rows card"/>
          <p:cNvSpPr/>
          <p:nvPr/>
        </p:nvSpPr>
        <p:spPr>
          <a:xfrm>
            <a:off x="4297680" y="3794760"/>
            <a:ext cx="3474720" cy="2103120"/>
          </a:xfrm>
          <a:prstGeom prst="roundRect">
            <a:avLst>
              <a:gd name="adj" fmla="val 5217"/>
            </a:avLst>
          </a:prstGeom>
          <a:solidFill>
            <a:schemeClr val="bg2"/>
          </a:solidFill>
          <a:ln/>
        </p:spPr>
      </p:sp>
      <p:sp>
        <p:nvSpPr>
          <p:cNvPr id="24" name="error 5 circle"/>
          <p:cNvSpPr/>
          <p:nvPr/>
        </p:nvSpPr>
        <p:spPr>
          <a:xfrm>
            <a:off x="4572000" y="4069080"/>
            <a:ext cx="548640" cy="548640"/>
          </a:xfrm>
          <a:prstGeom prst="ellipse">
            <a:avLst/>
          </a:prstGeom>
          <a:solidFill>
            <a:schemeClr val="accent4"/>
          </a:solidFill>
          <a:ln/>
        </p:spPr>
      </p:sp>
      <p:pic>
        <p:nvPicPr>
          <p:cNvPr id="25" name="error 5 icon" descr="preencoded.png">    </p:cNvPr>
          <p:cNvPicPr>
            <a:picLocks noChangeAspect="1"/>
          </p:cNvPicPr>
          <p:nvPr/>
        </p:nvPicPr>
        <p:blipFill>
          <a:blip r:embed="rId5"/>
          <a:stretch>
            <a:fillRect/>
          </a:stretch>
        </p:blipFill>
        <p:spPr>
          <a:xfrm>
            <a:off x="4709160" y="4206240"/>
            <a:ext cx="274320" cy="274320"/>
          </a:xfrm>
          <a:prstGeom prst="rect">
            <a:avLst/>
          </a:prstGeom>
        </p:spPr>
      </p:pic>
      <p:sp>
        <p:nvSpPr>
          <p:cNvPr id="26" name="Text 19"/>
          <p:cNvSpPr txBox="1"/>
          <p:nvPr/>
        </p:nvSpPr>
        <p:spPr>
          <a:xfrm>
            <a:off x="5257800" y="4023360"/>
            <a:ext cx="2331720" cy="685800"/>
          </a:xfrm>
          <a:prstGeom prst="rect">
            <a:avLst/>
          </a:prstGeom>
          <a:noFill/>
          <a:ln/>
        </p:spPr>
        <p:txBody>
          <a:bodyPr wrap="square" lIns="0" tIns="0" rIns="0" bIns="0" rtlCol="0" anchor="ctr"/>
          <a:lstStyle/>
          <a:p>
            <a:pPr indent="0" marL="0">
              <a:buNone/>
            </a:pPr>
            <a:r>
              <a:rPr lang="en-US" sz="1500" b="1" dirty="0">
                <a:solidFill>
                  <a:schemeClr val="tx2"/>
                </a:solidFill>
              </a:rPr>
              <a:t>Wrong number of rows</a:t>
            </a:r>
            <a:endParaRPr lang="en-US" sz="1500" dirty="0"/>
          </a:p>
        </p:txBody>
      </p:sp>
      <p:sp>
        <p:nvSpPr>
          <p:cNvPr id="27" name="Text 20"/>
          <p:cNvSpPr txBox="1"/>
          <p:nvPr/>
        </p:nvSpPr>
        <p:spPr>
          <a:xfrm>
            <a:off x="4572000" y="4846320"/>
            <a:ext cx="2971800" cy="914400"/>
          </a:xfrm>
          <a:prstGeom prst="rect">
            <a:avLst/>
          </a:prstGeom>
          <a:noFill/>
          <a:ln/>
        </p:spPr>
        <p:txBody>
          <a:bodyPr wrap="square" lIns="0" tIns="0" rIns="0" bIns="0" rtlCol="0" anchor="t"/>
          <a:lstStyle/>
          <a:p>
            <a:pPr indent="0" marL="0">
              <a:buNone/>
            </a:pPr>
            <a:r>
              <a:rPr lang="en-US" sz="1500" dirty="0">
                <a:solidFill>
                  <a:schemeClr val="tx1"/>
                </a:solidFill>
              </a:rPr>
              <a:t>Predict on X_test, and don't filter or sort test.</a:t>
            </a:r>
            <a:endParaRPr lang="en-US" sz="1500" dirty="0"/>
          </a:p>
        </p:txBody>
      </p:sp>
      <p:sp>
        <p:nvSpPr>
          <p:cNvPr id="28" name="Training ≫ validation card"/>
          <p:cNvSpPr/>
          <p:nvPr/>
        </p:nvSpPr>
        <p:spPr>
          <a:xfrm>
            <a:off x="8046720" y="3794760"/>
            <a:ext cx="3474720" cy="2103120"/>
          </a:xfrm>
          <a:prstGeom prst="roundRect">
            <a:avLst>
              <a:gd name="adj" fmla="val 5217"/>
            </a:avLst>
          </a:prstGeom>
          <a:solidFill>
            <a:schemeClr val="bg2"/>
          </a:solidFill>
          <a:ln/>
        </p:spPr>
      </p:sp>
      <p:sp>
        <p:nvSpPr>
          <p:cNvPr id="29" name="error 6 circle"/>
          <p:cNvSpPr/>
          <p:nvPr/>
        </p:nvSpPr>
        <p:spPr>
          <a:xfrm>
            <a:off x="8321040" y="4069080"/>
            <a:ext cx="548640" cy="548640"/>
          </a:xfrm>
          <a:prstGeom prst="ellipse">
            <a:avLst/>
          </a:prstGeom>
          <a:solidFill>
            <a:schemeClr val="accent4"/>
          </a:solidFill>
          <a:ln/>
        </p:spPr>
      </p:sp>
      <p:pic>
        <p:nvPicPr>
          <p:cNvPr id="30" name="error 6 icon" descr="preencoded.png">    </p:cNvPr>
          <p:cNvPicPr>
            <a:picLocks noChangeAspect="1"/>
          </p:cNvPicPr>
          <p:nvPr/>
        </p:nvPicPr>
        <p:blipFill>
          <a:blip r:embed="rId6"/>
          <a:stretch>
            <a:fillRect/>
          </a:stretch>
        </p:blipFill>
        <p:spPr>
          <a:xfrm>
            <a:off x="8458200" y="4206240"/>
            <a:ext cx="274320" cy="274320"/>
          </a:xfrm>
          <a:prstGeom prst="rect">
            <a:avLst/>
          </a:prstGeom>
        </p:spPr>
      </p:pic>
      <p:sp>
        <p:nvSpPr>
          <p:cNvPr id="31" name="Text 23"/>
          <p:cNvSpPr txBox="1"/>
          <p:nvPr/>
        </p:nvSpPr>
        <p:spPr>
          <a:xfrm>
            <a:off x="9006840" y="4023360"/>
            <a:ext cx="2331720" cy="685800"/>
          </a:xfrm>
          <a:prstGeom prst="rect">
            <a:avLst/>
          </a:prstGeom>
          <a:noFill/>
          <a:ln/>
        </p:spPr>
        <p:txBody>
          <a:bodyPr wrap="square" lIns="0" tIns="0" rIns="0" bIns="0" rtlCol="0" anchor="ctr"/>
          <a:lstStyle/>
          <a:p>
            <a:pPr indent="0" marL="0">
              <a:buNone/>
            </a:pPr>
            <a:r>
              <a:rPr lang="en-US" sz="1500" b="1" dirty="0">
                <a:solidFill>
                  <a:schemeClr val="tx2"/>
                </a:solidFill>
              </a:rPr>
              <a:t>Training ≫ validation</a:t>
            </a:r>
            <a:endParaRPr lang="en-US" sz="1500" dirty="0"/>
          </a:p>
        </p:txBody>
      </p:sp>
      <p:sp>
        <p:nvSpPr>
          <p:cNvPr id="32" name="Text 24"/>
          <p:cNvSpPr txBox="1"/>
          <p:nvPr/>
        </p:nvSpPr>
        <p:spPr>
          <a:xfrm>
            <a:off x="8321040" y="4846320"/>
            <a:ext cx="2971800" cy="914400"/>
          </a:xfrm>
          <a:prstGeom prst="rect">
            <a:avLst/>
          </a:prstGeom>
          <a:noFill/>
          <a:ln/>
        </p:spPr>
        <p:txBody>
          <a:bodyPr wrap="square" lIns="0" tIns="0" rIns="0" bIns="0" rtlCol="0" anchor="t"/>
          <a:lstStyle/>
          <a:p>
            <a:pPr indent="0" marL="0">
              <a:buNone/>
            </a:pPr>
            <a:r>
              <a:rPr lang="en-US" sz="1500" dirty="0">
                <a:solidFill>
                  <a:schemeClr val="tx1"/>
                </a:solidFill>
              </a:rPr>
              <a:t>Overfitting. Lower max_depth or try a random forest.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to turn in</a:t>
            </a:r>
            <a:endParaRPr lang="en-US" sz="3600" dirty="0"/>
          </a:p>
        </p:txBody>
      </p:sp>
      <p:sp>
        <p:nvSpPr>
          <p:cNvPr id="3" name="Kaggle username circle"/>
          <p:cNvSpPr/>
          <p:nvPr/>
        </p:nvSpPr>
        <p:spPr>
          <a:xfrm>
            <a:off x="548640" y="1463040"/>
            <a:ext cx="822960" cy="822960"/>
          </a:xfrm>
          <a:prstGeom prst="ellipse">
            <a:avLst/>
          </a:prstGeom>
          <a:solidFill>
            <a:schemeClr val="accent1"/>
          </a:solidFill>
          <a:ln/>
        </p:spPr>
      </p:sp>
      <p:pic>
        <p:nvPicPr>
          <p:cNvPr id="4" name="Kaggle username icon" descr="preencoded.png">    </p:cNvPr>
          <p:cNvPicPr>
            <a:picLocks noChangeAspect="1"/>
          </p:cNvPicPr>
          <p:nvPr/>
        </p:nvPicPr>
        <p:blipFill>
          <a:blip r:embed="rId1"/>
          <a:stretch>
            <a:fillRect/>
          </a:stretch>
        </p:blipFill>
        <p:spPr>
          <a:xfrm>
            <a:off x="754380" y="1668780"/>
            <a:ext cx="411480" cy="411480"/>
          </a:xfrm>
          <a:prstGeom prst="rect">
            <a:avLst/>
          </a:prstGeom>
        </p:spPr>
      </p:pic>
      <p:sp>
        <p:nvSpPr>
          <p:cNvPr id="5" name="Text 2"/>
          <p:cNvSpPr txBox="1"/>
          <p:nvPr/>
        </p:nvSpPr>
        <p:spPr>
          <a:xfrm>
            <a:off x="1554480" y="1481328"/>
            <a:ext cx="4023360" cy="822960"/>
          </a:xfrm>
          <a:prstGeom prst="rect">
            <a:avLst/>
          </a:prstGeom>
          <a:noFill/>
          <a:ln/>
        </p:spPr>
        <p:txBody>
          <a:bodyPr wrap="square" lIns="0" tIns="0" rIns="0" bIns="0" rtlCol="0" anchor="ctr"/>
          <a:lstStyle/>
          <a:p>
            <a:pPr indent="0" marL="0">
              <a:buNone/>
            </a:pPr>
            <a:r>
              <a:rPr lang="en-US" sz="2000" b="1" dirty="0">
                <a:solidFill>
                  <a:schemeClr val="tx2"/>
                </a:solidFill>
              </a:rPr>
              <a:t>Kaggle username</a:t>
            </a:r>
            <a:endParaRPr lang="en-US" sz="1600" dirty="0"/>
          </a:p>
          <a:p>
            <a:pPr indent="0" marL="0">
              <a:buNone/>
            </a:pPr>
            <a:r>
              <a:rPr lang="en-US" sz="1600" dirty="0">
                <a:solidFill>
                  <a:schemeClr val="accent3"/>
                </a:solidFill>
              </a:rPr>
              <a:t>submitted through Canvas</a:t>
            </a:r>
            <a:endParaRPr lang="en-US" sz="1600" dirty="0"/>
          </a:p>
        </p:txBody>
      </p:sp>
      <p:sp>
        <p:nvSpPr>
          <p:cNvPr id="6" name="Leaderboard screenshot circle"/>
          <p:cNvSpPr/>
          <p:nvPr/>
        </p:nvSpPr>
        <p:spPr>
          <a:xfrm>
            <a:off x="548640" y="2834640"/>
            <a:ext cx="822960" cy="822960"/>
          </a:xfrm>
          <a:prstGeom prst="ellipse">
            <a:avLst/>
          </a:prstGeom>
          <a:solidFill>
            <a:schemeClr val="accent1"/>
          </a:solidFill>
          <a:ln/>
        </p:spPr>
      </p:sp>
      <p:pic>
        <p:nvPicPr>
          <p:cNvPr id="7" name="Leaderboard screenshot icon" descr="preencoded.png">    </p:cNvPr>
          <p:cNvPicPr>
            <a:picLocks noChangeAspect="1"/>
          </p:cNvPicPr>
          <p:nvPr/>
        </p:nvPicPr>
        <p:blipFill>
          <a:blip r:embed="rId2"/>
          <a:stretch>
            <a:fillRect/>
          </a:stretch>
        </p:blipFill>
        <p:spPr>
          <a:xfrm>
            <a:off x="754380" y="3040380"/>
            <a:ext cx="411480" cy="411480"/>
          </a:xfrm>
          <a:prstGeom prst="rect">
            <a:avLst/>
          </a:prstGeom>
        </p:spPr>
      </p:pic>
      <p:sp>
        <p:nvSpPr>
          <p:cNvPr id="8" name="Text 4"/>
          <p:cNvSpPr txBox="1"/>
          <p:nvPr/>
        </p:nvSpPr>
        <p:spPr>
          <a:xfrm>
            <a:off x="1554480" y="2852928"/>
            <a:ext cx="4023360" cy="822960"/>
          </a:xfrm>
          <a:prstGeom prst="rect">
            <a:avLst/>
          </a:prstGeom>
          <a:noFill/>
          <a:ln/>
        </p:spPr>
        <p:txBody>
          <a:bodyPr wrap="square" lIns="0" tIns="0" rIns="0" bIns="0" rtlCol="0" anchor="ctr"/>
          <a:lstStyle/>
          <a:p>
            <a:pPr indent="0" marL="0">
              <a:buNone/>
            </a:pPr>
            <a:r>
              <a:rPr lang="en-US" sz="2000" b="1" dirty="0">
                <a:solidFill>
                  <a:schemeClr val="tx2"/>
                </a:solidFill>
              </a:rPr>
              <a:t>Leaderboard screenshot</a:t>
            </a:r>
            <a:endParaRPr lang="en-US" sz="1600" dirty="0"/>
          </a:p>
          <a:p>
            <a:pPr indent="0" marL="0">
              <a:buNone/>
            </a:pPr>
            <a:r>
              <a:rPr lang="en-US" sz="1600" dirty="0">
                <a:solidFill>
                  <a:schemeClr val="accent3"/>
                </a:solidFill>
              </a:rPr>
              <a:t>of your best score</a:t>
            </a:r>
            <a:endParaRPr lang="en-US" sz="1600" dirty="0"/>
          </a:p>
        </p:txBody>
      </p:sp>
      <p:sp>
        <p:nvSpPr>
          <p:cNvPr id="9" name="Completed notebook circle"/>
          <p:cNvSpPr/>
          <p:nvPr/>
        </p:nvSpPr>
        <p:spPr>
          <a:xfrm>
            <a:off x="548640" y="4206240"/>
            <a:ext cx="822960" cy="822960"/>
          </a:xfrm>
          <a:prstGeom prst="ellipse">
            <a:avLst/>
          </a:prstGeom>
          <a:solidFill>
            <a:schemeClr val="accent1"/>
          </a:solidFill>
          <a:ln/>
        </p:spPr>
      </p:sp>
      <p:pic>
        <p:nvPicPr>
          <p:cNvPr id="10" name="Completed notebook icon" descr="preencoded.png">    </p:cNvPr>
          <p:cNvPicPr>
            <a:picLocks noChangeAspect="1"/>
          </p:cNvPicPr>
          <p:nvPr/>
        </p:nvPicPr>
        <p:blipFill>
          <a:blip r:embed="rId3"/>
          <a:stretch>
            <a:fillRect/>
          </a:stretch>
        </p:blipFill>
        <p:spPr>
          <a:xfrm>
            <a:off x="754380" y="4411980"/>
            <a:ext cx="411480" cy="411480"/>
          </a:xfrm>
          <a:prstGeom prst="rect">
            <a:avLst/>
          </a:prstGeom>
        </p:spPr>
      </p:pic>
      <p:sp>
        <p:nvSpPr>
          <p:cNvPr id="11" name="Text 6"/>
          <p:cNvSpPr txBox="1"/>
          <p:nvPr/>
        </p:nvSpPr>
        <p:spPr>
          <a:xfrm>
            <a:off x="1554480" y="4224528"/>
            <a:ext cx="4023360" cy="822960"/>
          </a:xfrm>
          <a:prstGeom prst="rect">
            <a:avLst/>
          </a:prstGeom>
          <a:noFill/>
          <a:ln/>
        </p:spPr>
        <p:txBody>
          <a:bodyPr wrap="square" lIns="0" tIns="0" rIns="0" bIns="0" rtlCol="0" anchor="ctr"/>
          <a:lstStyle/>
          <a:p>
            <a:pPr indent="0" marL="0">
              <a:buNone/>
            </a:pPr>
            <a:r>
              <a:rPr lang="en-US" sz="2000" b="1" dirty="0">
                <a:solidFill>
                  <a:schemeClr val="tx2"/>
                </a:solidFill>
              </a:rPr>
              <a:t>Completed notebook</a:t>
            </a:r>
            <a:endParaRPr lang="en-US" sz="1600" dirty="0"/>
          </a:p>
          <a:p>
            <a:pPr indent="0" marL="0">
              <a:buNone/>
            </a:pPr>
            <a:r>
              <a:rPr lang="en-US" sz="1600" dirty="0">
                <a:solidFill>
                  <a:schemeClr val="accent3"/>
                </a:solidFill>
              </a:rPr>
              <a:t>loan-starter.ipynb, shared link or .ipynb</a:t>
            </a:r>
            <a:endParaRPr lang="en-US" sz="1600" dirty="0"/>
          </a:p>
        </p:txBody>
      </p:sp>
      <p:sp>
        <p:nvSpPr>
          <p:cNvPr id="12" name="notebook card"/>
          <p:cNvSpPr/>
          <p:nvPr/>
        </p:nvSpPr>
        <p:spPr>
          <a:xfrm>
            <a:off x="6035040" y="1417320"/>
            <a:ext cx="5577840" cy="4160520"/>
          </a:xfrm>
          <a:prstGeom prst="roundRect">
            <a:avLst>
              <a:gd name="adj" fmla="val 2637"/>
            </a:avLst>
          </a:prstGeom>
          <a:solidFill>
            <a:schemeClr val="bg2"/>
          </a:solidFill>
          <a:ln/>
        </p:spPr>
      </p:sp>
      <p:sp>
        <p:nvSpPr>
          <p:cNvPr id="13" name="Text 8"/>
          <p:cNvSpPr txBox="1"/>
          <p:nvPr/>
        </p:nvSpPr>
        <p:spPr>
          <a:xfrm>
            <a:off x="6355080" y="1645920"/>
            <a:ext cx="50292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Your notebook should show</a:t>
            </a:r>
            <a:endParaRPr lang="en-US" sz="2200" dirty="0"/>
          </a:p>
        </p:txBody>
      </p:sp>
      <p:sp>
        <p:nvSpPr>
          <p:cNvPr id="14" name="Text 9"/>
          <p:cNvSpPr txBox="1"/>
          <p:nvPr/>
        </p:nvSpPr>
        <p:spPr>
          <a:xfrm>
            <a:off x="6355080" y="2240280"/>
            <a:ext cx="5029200" cy="32004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rPr>
              <a:t>At least three groupby questions, and what each taught you</a:t>
            </a:r>
            <a:endParaRPr lang="en-US" sz="1600" dirty="0"/>
          </a:p>
          <a:p>
            <a:pPr marL="342900" indent="-342900">
              <a:spcAft>
                <a:spcPts val="1000"/>
              </a:spcAft>
              <a:buSzPct val="100000"/>
              <a:buFont typeface="+mj-lt"/>
              <a:buAutoNum type="arabicPeriod" startAt="1"/>
            </a:pPr>
            <a:r>
              <a:rPr lang="en-US" sz="1600" dirty="0">
                <a:solidFill>
                  <a:schemeClr val="tx1"/>
                </a:solidFill>
              </a:rPr>
              <a:t>Your baseline submission and its score</a:t>
            </a:r>
            <a:endParaRPr lang="en-US" sz="1600" dirty="0"/>
          </a:p>
          <a:p>
            <a:pPr marL="342900" indent="-342900">
              <a:spcAft>
                <a:spcPts val="1000"/>
              </a:spcAft>
              <a:buSzPct val="100000"/>
              <a:buFont typeface="+mj-lt"/>
              <a:buAutoNum type="arabicPeriod" startAt="1"/>
            </a:pPr>
            <a:r>
              <a:rPr lang="en-US" sz="1600" dirty="0">
                <a:solidFill>
                  <a:schemeClr val="tx1"/>
                </a:solidFill>
              </a:rPr>
              <a:t>Your decision tree: validation accuracy and Kaggle score</a:t>
            </a:r>
            <a:endParaRPr lang="en-US" sz="1600" dirty="0"/>
          </a:p>
          <a:p>
            <a:pPr marL="342900" indent="-342900">
              <a:spcAft>
                <a:spcPts val="1000"/>
              </a:spcAft>
              <a:buSzPct val="100000"/>
              <a:buFont typeface="+mj-lt"/>
              <a:buAutoNum type="arabicPeriod" startAt="1"/>
            </a:pPr>
            <a:r>
              <a:rPr lang="en-US" sz="1600" dirty="0">
                <a:solidFill>
                  <a:schemeClr val="tx1"/>
                </a:solidFill>
              </a:rPr>
              <a:t>At least one improvement attempt, and whether it helped</a:t>
            </a:r>
            <a:endParaRPr lang="en-US" sz="1600" dirty="0"/>
          </a:p>
          <a:p>
            <a:pPr marL="342900" indent="-342900">
              <a:spcAft>
                <a:spcPts val="1000"/>
              </a:spcAft>
              <a:buSzPct val="100000"/>
              <a:buFont typeface="+mj-lt"/>
              <a:buAutoNum type="arabicPeriod" startAt="1"/>
            </a:pPr>
            <a:r>
              <a:rPr lang="en-US" sz="1600" dirty="0">
                <a:solidFill>
                  <a:schemeClr val="tx1"/>
                </a:solidFill>
              </a:rPr>
              <a:t>In your own words: why 86% accuracy isn't impressive here</a:t>
            </a:r>
            <a:endParaRPr lang="en-US" sz="1600" dirty="0"/>
          </a:p>
          <a:p>
            <a:pPr marL="342900" indent="-342900">
              <a:spcAft>
                <a:spcPts val="1000"/>
              </a:spcAft>
              <a:buSzPct val="100000"/>
              <a:buFont typeface="+mj-lt"/>
              <a:buAutoNum type="arabicPeriod" startAt="1"/>
            </a:pPr>
            <a:r>
              <a:rPr lang="en-US" sz="1600" dirty="0">
                <a:solidFill>
                  <a:schemeClr val="tx1"/>
                </a:solidFill>
              </a:rPr>
              <a:t>In your own words: what overfitting is and how you checked</a:t>
            </a:r>
            <a:endParaRPr lang="en-US" sz="1600" dirty="0"/>
          </a:p>
        </p:txBody>
      </p:sp>
      <p:sp>
        <p:nvSpPr>
          <p:cNvPr id="15" name="grading note"/>
          <p:cNvSpPr/>
          <p:nvPr/>
        </p:nvSpPr>
        <p:spPr>
          <a:xfrm>
            <a:off x="548640" y="5715000"/>
            <a:ext cx="11064240" cy="548640"/>
          </a:xfrm>
          <a:prstGeom prst="roundRect">
            <a:avLst>
              <a:gd name="adj" fmla="val 20000"/>
            </a:avLst>
          </a:prstGeom>
          <a:solidFill>
            <a:schemeClr val="tx2"/>
          </a:solidFill>
          <a:ln/>
        </p:spPr>
      </p:sp>
      <p:sp>
        <p:nvSpPr>
          <p:cNvPr id="16" name="Text 11"/>
          <p:cNvSpPr txBox="1"/>
          <p:nvPr/>
        </p:nvSpPr>
        <p:spPr>
          <a:xfrm>
            <a:off x="822960" y="5715000"/>
            <a:ext cx="10515600" cy="548640"/>
          </a:xfrm>
          <a:prstGeom prst="rect">
            <a:avLst/>
          </a:prstGeom>
          <a:noFill/>
          <a:ln/>
        </p:spPr>
        <p:txBody>
          <a:bodyPr wrap="square" lIns="0" tIns="0" rIns="0" bIns="0" rtlCol="0" anchor="ctr"/>
          <a:lstStyle/>
          <a:p>
            <a:pPr indent="0" marL="0">
              <a:buNone/>
            </a:pPr>
            <a:r>
              <a:rPr lang="en-US" sz="1600" dirty="0">
                <a:solidFill>
                  <a:schemeClr val="bg1"/>
                </a:solidFill>
              </a:rPr>
              <a:t>Your leaderboard rank isn't graded. Clear thinking and honest before-and-after comparisons are.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Get started</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indent="0" marL="0">
              <a:buNone/>
            </a:pPr>
            <a:r>
              <a:rPr lang="en-US" sz="2200" dirty="0">
                <a:solidFill>
                  <a:schemeClr val="accent5"/>
                </a:solidFill>
              </a:rPr>
              <a:t>Beat 85.8% first. A realistic goal is about 95%.</a:t>
            </a:r>
            <a:endParaRPr lang="en-US" sz="2200" dirty="0"/>
          </a:p>
        </p:txBody>
      </p:sp>
      <p:sp>
        <p:nvSpPr>
          <p:cNvPr id="4" name="Join the competition card"/>
          <p:cNvSpPr/>
          <p:nvPr/>
        </p:nvSpPr>
        <p:spPr>
          <a:xfrm>
            <a:off x="731520" y="4434840"/>
            <a:ext cx="3383280" cy="1691640"/>
          </a:xfrm>
          <a:prstGeom prst="roundRect">
            <a:avLst>
              <a:gd name="adj" fmla="val 6486"/>
            </a:avLst>
          </a:prstGeom>
          <a:solidFill>
            <a:schemeClr val="accent6"/>
          </a:solidFill>
          <a:ln/>
        </p:spPr>
      </p:sp>
      <p:sp>
        <p:nvSpPr>
          <p:cNvPr id="5" name="Join the competition circle"/>
          <p:cNvSpPr/>
          <p:nvPr/>
        </p:nvSpPr>
        <p:spPr>
          <a:xfrm>
            <a:off x="1005840" y="4663440"/>
            <a:ext cx="640080" cy="640080"/>
          </a:xfrm>
          <a:prstGeom prst="ellipse">
            <a:avLst/>
          </a:prstGeom>
          <a:solidFill>
            <a:schemeClr val="accent2"/>
          </a:solidFill>
          <a:ln/>
        </p:spPr>
      </p:sp>
      <p:pic>
        <p:nvPicPr>
          <p:cNvPr id="6" name="Join the competition icon" descr="preencoded.png">    </p:cNvPr>
          <p:cNvPicPr>
            <a:picLocks noChangeAspect="1"/>
          </p:cNvPicPr>
          <p:nvPr/>
        </p:nvPicPr>
        <p:blipFill>
          <a:blip r:embed="rId1"/>
          <a:stretch>
            <a:fillRect/>
          </a:stretch>
        </p:blipFill>
        <p:spPr>
          <a:xfrm>
            <a:off x="1165860" y="4823460"/>
            <a:ext cx="320040" cy="320040"/>
          </a:xfrm>
          <a:prstGeom prst="rect">
            <a:avLst/>
          </a:prstGeom>
        </p:spPr>
      </p:pic>
      <p:sp>
        <p:nvSpPr>
          <p:cNvPr id="7" name="Text 4"/>
          <p:cNvSpPr txBox="1"/>
          <p:nvPr/>
        </p:nvSpPr>
        <p:spPr>
          <a:xfrm>
            <a:off x="1783080" y="4663440"/>
            <a:ext cx="2194560" cy="640080"/>
          </a:xfrm>
          <a:prstGeom prst="rect">
            <a:avLst/>
          </a:prstGeom>
          <a:noFill/>
          <a:ln/>
        </p:spPr>
        <p:txBody>
          <a:bodyPr wrap="square" lIns="0" tIns="0" rIns="0" bIns="0" rtlCol="0" anchor="ctr"/>
          <a:lstStyle/>
          <a:p>
            <a:pPr indent="0" marL="0">
              <a:buNone/>
            </a:pPr>
            <a:r>
              <a:rPr lang="en-US" sz="1800" b="1" dirty="0">
                <a:solidFill>
                  <a:schemeClr val="bg1"/>
                </a:solidFill>
              </a:rPr>
              <a:t>Join the competition</a:t>
            </a:r>
            <a:endParaRPr lang="en-US" sz="1800" dirty="0"/>
          </a:p>
        </p:txBody>
      </p:sp>
      <p:sp>
        <p:nvSpPr>
          <p:cNvPr id="8" name="Text 5"/>
          <p:cNvSpPr txBox="1"/>
          <p:nvPr/>
        </p:nvSpPr>
        <p:spPr>
          <a:xfrm>
            <a:off x="1005840" y="5440680"/>
            <a:ext cx="2926080" cy="548640"/>
          </a:xfrm>
          <a:prstGeom prst="rect">
            <a:avLst/>
          </a:prstGeom>
          <a:noFill/>
          <a:ln/>
        </p:spPr>
        <p:txBody>
          <a:bodyPr wrap="square" lIns="0" tIns="0" rIns="0" bIns="0" rtlCol="0" anchor="t"/>
          <a:lstStyle/>
          <a:p>
            <a:pPr indent="0" marL="0">
              <a:buNone/>
            </a:pPr>
            <a:r>
              <a:rPr lang="en-US" sz="1400" u="sng" dirty="0">
                <a:solidFill>
                  <a:schemeClr val="accent5"/>
                </a:solidFill>
                <a:hlinkClick r:id="rId2" invalidUrl="" action="" tgtFrame="" tooltip="" history="1" highlightClick="0" endSnd="0">
                  <a:extLst>
                    <a:ext uri="{A12FA001-AC4F-418D-AE19-62706E023703}">
                      <ahyp:hlinkClr xmlns:ahyp="http://schemas.microsoft.com/office/drawing/2018/hyperlinkcolor" val="tx"/>
                    </a:ext>
                  </a:extLst>
                </a:hlinkClick>
              </a:rPr>
              <a:t>Kaggle: 3220-loan-approval</a:t>
            </a:r>
            <a:endParaRPr lang="en-US" sz="1400" dirty="0"/>
          </a:p>
        </p:txBody>
      </p:sp>
      <p:sp>
        <p:nvSpPr>
          <p:cNvPr id="9" name="Get the materials card"/>
          <p:cNvSpPr/>
          <p:nvPr/>
        </p:nvSpPr>
        <p:spPr>
          <a:xfrm>
            <a:off x="4389120" y="4434840"/>
            <a:ext cx="3383280" cy="1691640"/>
          </a:xfrm>
          <a:prstGeom prst="roundRect">
            <a:avLst>
              <a:gd name="adj" fmla="val 6486"/>
            </a:avLst>
          </a:prstGeom>
          <a:solidFill>
            <a:schemeClr val="accent6"/>
          </a:solidFill>
          <a:ln/>
        </p:spPr>
      </p:sp>
      <p:sp>
        <p:nvSpPr>
          <p:cNvPr id="10" name="Get the materials circle"/>
          <p:cNvSpPr/>
          <p:nvPr/>
        </p:nvSpPr>
        <p:spPr>
          <a:xfrm>
            <a:off x="4663440" y="4663440"/>
            <a:ext cx="640080" cy="640080"/>
          </a:xfrm>
          <a:prstGeom prst="ellipse">
            <a:avLst/>
          </a:prstGeom>
          <a:solidFill>
            <a:schemeClr val="accent2"/>
          </a:solidFill>
          <a:ln/>
        </p:spPr>
      </p:sp>
      <p:pic>
        <p:nvPicPr>
          <p:cNvPr id="11" name="Get the materials icon" descr="preencoded.png">    </p:cNvPr>
          <p:cNvPicPr>
            <a:picLocks noChangeAspect="1"/>
          </p:cNvPicPr>
          <p:nvPr/>
        </p:nvPicPr>
        <p:blipFill>
          <a:blip r:embed="rId3"/>
          <a:stretch>
            <a:fillRect/>
          </a:stretch>
        </p:blipFill>
        <p:spPr>
          <a:xfrm>
            <a:off x="4823460" y="4823460"/>
            <a:ext cx="320040" cy="320040"/>
          </a:xfrm>
          <a:prstGeom prst="rect">
            <a:avLst/>
          </a:prstGeom>
        </p:spPr>
      </p:pic>
      <p:sp>
        <p:nvSpPr>
          <p:cNvPr id="12" name="Text 8"/>
          <p:cNvSpPr txBox="1"/>
          <p:nvPr/>
        </p:nvSpPr>
        <p:spPr>
          <a:xfrm>
            <a:off x="5440680" y="4663440"/>
            <a:ext cx="2194560" cy="640080"/>
          </a:xfrm>
          <a:prstGeom prst="rect">
            <a:avLst/>
          </a:prstGeom>
          <a:noFill/>
          <a:ln/>
        </p:spPr>
        <p:txBody>
          <a:bodyPr wrap="square" lIns="0" tIns="0" rIns="0" bIns="0" rtlCol="0" anchor="ctr"/>
          <a:lstStyle/>
          <a:p>
            <a:pPr indent="0" marL="0">
              <a:buNone/>
            </a:pPr>
            <a:r>
              <a:rPr lang="en-US" sz="1800" b="1" dirty="0">
                <a:solidFill>
                  <a:schemeClr val="bg1"/>
                </a:solidFill>
              </a:rPr>
              <a:t>Get the materials</a:t>
            </a:r>
            <a:endParaRPr lang="en-US" sz="1800" dirty="0"/>
          </a:p>
        </p:txBody>
      </p:sp>
      <p:sp>
        <p:nvSpPr>
          <p:cNvPr id="13" name="Text 9"/>
          <p:cNvSpPr txBox="1"/>
          <p:nvPr/>
        </p:nvSpPr>
        <p:spPr>
          <a:xfrm>
            <a:off x="4663440" y="5440680"/>
            <a:ext cx="2926080" cy="548640"/>
          </a:xfrm>
          <a:prstGeom prst="rect">
            <a:avLst/>
          </a:prstGeom>
          <a:noFill/>
          <a:ln/>
        </p:spPr>
        <p:txBody>
          <a:bodyPr wrap="square" lIns="0" tIns="0" rIns="0" bIns="0" rtlCol="0" anchor="t"/>
          <a:lstStyle/>
          <a:p>
            <a:pPr indent="0" marL="0">
              <a:buNone/>
            </a:pPr>
            <a:r>
              <a:rPr lang="en-US" sz="1400" u="sng" dirty="0">
                <a:solidFill>
                  <a:schemeClr val="accent5"/>
                </a:solidFill>
                <a:hlinkClick r:id="rId4" invalidUrl="" action="" tgtFrame="" tooltip="" history="1" highlightClick="0" endSnd="0">
                  <a:extLst>
                    <a:ext uri="{A12FA001-AC4F-418D-AE19-62706E023703}">
                      <ahyp:hlinkClr xmlns:ahyp="http://schemas.microsoft.com/office/drawing/2018/hyperlinkcolor" val="tx"/>
                    </a:ext>
                  </a:extLst>
                </a:hlinkClick>
              </a:rPr>
              <a:t>github.com/iportilla/loan</a:t>
            </a:r>
            <a:endParaRPr lang="en-US" sz="1400" dirty="0"/>
          </a:p>
        </p:txBody>
      </p:sp>
      <p:sp>
        <p:nvSpPr>
          <p:cNvPr id="14" name="Start here card"/>
          <p:cNvSpPr/>
          <p:nvPr/>
        </p:nvSpPr>
        <p:spPr>
          <a:xfrm>
            <a:off x="8046720" y="4434840"/>
            <a:ext cx="3383280" cy="1691640"/>
          </a:xfrm>
          <a:prstGeom prst="roundRect">
            <a:avLst>
              <a:gd name="adj" fmla="val 6486"/>
            </a:avLst>
          </a:prstGeom>
          <a:solidFill>
            <a:schemeClr val="accent6"/>
          </a:solidFill>
          <a:ln/>
        </p:spPr>
      </p:sp>
      <p:sp>
        <p:nvSpPr>
          <p:cNvPr id="15" name="Start here circle"/>
          <p:cNvSpPr/>
          <p:nvPr/>
        </p:nvSpPr>
        <p:spPr>
          <a:xfrm>
            <a:off x="8321040" y="4663440"/>
            <a:ext cx="640080" cy="640080"/>
          </a:xfrm>
          <a:prstGeom prst="ellipse">
            <a:avLst/>
          </a:prstGeom>
          <a:solidFill>
            <a:schemeClr val="accent2"/>
          </a:solidFill>
          <a:ln/>
        </p:spPr>
      </p:sp>
      <p:pic>
        <p:nvPicPr>
          <p:cNvPr id="16" name="Start here icon" descr="preencoded.png">    </p:cNvPr>
          <p:cNvPicPr>
            <a:picLocks noChangeAspect="1"/>
          </p:cNvPicPr>
          <p:nvPr/>
        </p:nvPicPr>
        <p:blipFill>
          <a:blip r:embed="rId5"/>
          <a:stretch>
            <a:fillRect/>
          </a:stretch>
        </p:blipFill>
        <p:spPr>
          <a:xfrm>
            <a:off x="8481060" y="4823460"/>
            <a:ext cx="320040" cy="320040"/>
          </a:xfrm>
          <a:prstGeom prst="rect">
            <a:avLst/>
          </a:prstGeom>
        </p:spPr>
      </p:pic>
      <p:sp>
        <p:nvSpPr>
          <p:cNvPr id="17" name="Text 12"/>
          <p:cNvSpPr txBox="1"/>
          <p:nvPr/>
        </p:nvSpPr>
        <p:spPr>
          <a:xfrm>
            <a:off x="9098280" y="4663440"/>
            <a:ext cx="2194560" cy="640080"/>
          </a:xfrm>
          <a:prstGeom prst="rect">
            <a:avLst/>
          </a:prstGeom>
          <a:noFill/>
          <a:ln/>
        </p:spPr>
        <p:txBody>
          <a:bodyPr wrap="square" lIns="0" tIns="0" rIns="0" bIns="0" rtlCol="0" anchor="ctr"/>
          <a:lstStyle/>
          <a:p>
            <a:pPr indent="0" marL="0">
              <a:buNone/>
            </a:pPr>
            <a:r>
              <a:rPr lang="en-US" sz="1800" b="1" dirty="0">
                <a:solidFill>
                  <a:schemeClr val="bg1"/>
                </a:solidFill>
              </a:rPr>
              <a:t>Start here</a:t>
            </a:r>
            <a:endParaRPr lang="en-US" sz="1800" dirty="0"/>
          </a:p>
        </p:txBody>
      </p:sp>
      <p:sp>
        <p:nvSpPr>
          <p:cNvPr id="18" name="Text 13"/>
          <p:cNvSpPr txBox="1"/>
          <p:nvPr/>
        </p:nvSpPr>
        <p:spPr>
          <a:xfrm>
            <a:off x="8321040" y="5440680"/>
            <a:ext cx="2926080" cy="548640"/>
          </a:xfrm>
          <a:prstGeom prst="rect">
            <a:avLst/>
          </a:prstGeom>
          <a:noFill/>
          <a:ln/>
        </p:spPr>
        <p:txBody>
          <a:bodyPr wrap="square" lIns="0" tIns="0" rIns="0" bIns="0" rtlCol="0" anchor="t"/>
          <a:lstStyle/>
          <a:p>
            <a:pPr indent="0" marL="0">
              <a:buNone/>
            </a:pPr>
            <a:r>
              <a:rPr lang="en-US" sz="1400" dirty="0">
                <a:solidFill>
                  <a:schemeClr val="accent5"/>
                </a:solidFill>
              </a:rPr>
              <a:t>Loan-README.md  +  loan-starter.ipynb</a:t>
            </a:r>
            <a:endParaRPr lang="en-US" sz="1400" dirty="0"/>
          </a:p>
        </p:txBody>
      </p:sp>
    </p:spTree>
  </p:cSld>
  <p:clrMapOvr>
    <a:masterClrMapping/>
  </p:clrMapOvr>
</p:sld>
</file>

<file path=ppt/theme/theme1.xml><?xml version="1.0" encoding="utf-8"?>
<a:theme xmlns:a="http://schemas.openxmlformats.org/drawingml/2006/main" name="Loan Challenge">
  <a:themeElements>
    <a:clrScheme name="Loan Challenge">
      <a:dk1>
        <a:srgbClr val="1A2B28"/>
      </a:dk1>
      <a:lt1>
        <a:srgbClr val="FFFFFF"/>
      </a:lt1>
      <a:dk2>
        <a:srgbClr val="0B3B35"/>
      </a:dk2>
      <a:lt2>
        <a:srgbClr val="EEF4F2"/>
      </a:lt2>
      <a:accent1>
        <a:srgbClr val="0F6E5F"/>
      </a:accent1>
      <a:accent2>
        <a:srgbClr val="E8962E"/>
      </a:accent2>
      <a:accent3>
        <a:srgbClr val="5B7A73"/>
      </a:accent3>
      <a:accent4>
        <a:srgbClr val="B5462F"/>
      </a:accent4>
      <a:accent5>
        <a:srgbClr val="9CC5B9"/>
      </a:accent5>
      <a:accent6>
        <a:srgbClr val="2E4A45"/>
      </a:accent6>
      <a:hlink>
        <a:srgbClr val="0F6E5F"/>
      </a:hlink>
      <a:folHlink>
        <a:srgbClr val="5B7A73"/>
      </a:folHlink>
    </a:clrScheme>
    <a:fontScheme name="Loan Challen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Approval Challenge</dc:title>
  <dc:subject>PptxGenJS Presentation</dc:subject>
  <dc:creator>BAIM 3220</dc:creator>
  <cp:lastModifiedBy>BAIM 3220</cp:lastModifiedBy>
  <cp:revision>1</cp:revision>
  <dcterms:created xsi:type="dcterms:W3CDTF">2026-10-28T15:41:35Z</dcterms:created>
  <dcterms:modified xsi:type="dcterms:W3CDTF">2026-10-28T15:41:35Z</dcterms:modified>
</cp:coreProperties>
</file>